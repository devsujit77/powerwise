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7" r:id="rId2"/>
    <p:sldId id="282" r:id="rId3"/>
    <p:sldId id="285" r:id="rId4"/>
    <p:sldId id="278" r:id="rId5"/>
    <p:sldId id="281" r:id="rId6"/>
    <p:sldId id="279" r:id="rId7"/>
    <p:sldId id="290" r:id="rId8"/>
    <p:sldId id="291" r:id="rId9"/>
    <p:sldId id="292" r:id="rId10"/>
    <p:sldId id="262" r:id="rId11"/>
    <p:sldId id="264" r:id="rId12"/>
    <p:sldId id="286" r:id="rId13"/>
    <p:sldId id="287" r:id="rId14"/>
    <p:sldId id="280" r:id="rId15"/>
    <p:sldId id="288" r:id="rId16"/>
    <p:sldId id="289" r:id="rId17"/>
    <p:sldId id="276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7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37A25B-DA5D-A37C-3B36-7F0977405ABF}" v="154" dt="2026-06-19T05:59:42.731"/>
    <p1510:client id="{088AD18C-7811-B1E2-9ED5-57A1A5542DF6}" v="456" dt="2026-06-19T06:28:44.546"/>
    <p1510:client id="{A6B9108B-7598-1D50-C4AA-8A38026DAEEF}" v="18" dt="2026-06-19T06:56:18.840"/>
    <p1510:client id="{CF376E3E-16AD-B220-DB03-D7511C5FAE25}" v="445" dt="2026-06-19T10:18:38.869"/>
    <p1510:client id="{E27D249D-B118-0810-7731-E1B1C378D9D3}" v="5" dt="2026-06-19T09:10:10.538"/>
  </p1510:revLst>
</p1510:revInfo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customschemas.google.com/relationships/presentationmetadata" Target="meta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68AA45C4-2AC1-8517-1BC6-B4D76161A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CA1C5246-838D-B804-A56B-BC9B52B15F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D030678B-9A26-414A-24D2-5EADEA30F9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73914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FD84428-22E9-69BE-1247-DAC9A4F92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B494818E-35DC-30D6-D810-BD81142A85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DFC07E38-1A67-9960-37C7-6BAD9D76F0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03208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id="{2FD84428-22E9-69BE-1247-DAC9A4F92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id="{B494818E-35DC-30D6-D810-BD81142A85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id="{DFC07E38-1A67-9960-37C7-6BAD9D76F0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03208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id="{466C47D1-19F6-52AF-3914-DD3C9905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id="{ACA1F779-4C2B-4CD1-FBDD-A40F0A3223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id="{40004D30-6E86-E263-D5DA-7577B1C759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1693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034428707"/>
              </p:ext>
            </p:extLst>
          </p:nvPr>
        </p:nvGraphicFramePr>
        <p:xfrm>
          <a:off x="1299257" y="260031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Student Name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87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Recent Passport Photo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87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Email ID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87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Mobile number [WhatsApp]</a:t>
                      </a: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687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182B3A"/>
                        </a:solidFill>
                        <a:latin typeface="Arial"/>
                      </a:endParaRPr>
                    </a:p>
                    <a:p>
                      <a:endParaRPr lang="en-IN" sz="1400" b="0" dirty="0">
                        <a:solidFill>
                          <a:srgbClr val="182B3A"/>
                        </a:solidFill>
                        <a:latin typeface="Arial"/>
                      </a:endParaRPr>
                    </a:p>
                    <a:p>
                      <a:pPr algn="ctr"/>
                      <a:r>
                        <a:rPr sz="1400" b="0" dirty="0">
                          <a:solidFill>
                            <a:srgbClr val="182B3A"/>
                          </a:solidFill>
                          <a:latin typeface="Arial"/>
                        </a:rPr>
                        <a:t>Sujit Vishnu Patil</a:t>
                      </a: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182B3A"/>
                        </a:solidFill>
                        <a:latin typeface="Arial"/>
                      </a:endParaRPr>
                    </a:p>
                    <a:p>
                      <a:endParaRPr lang="en-IN" sz="1400" b="0" dirty="0">
                        <a:solidFill>
                          <a:srgbClr val="182B3A"/>
                        </a:solidFill>
                        <a:latin typeface="Arial"/>
                      </a:endParaRPr>
                    </a:p>
                    <a:p>
                      <a:pPr algn="ctr"/>
                      <a:r>
                        <a:rPr sz="1400" b="0" dirty="0">
                          <a:solidFill>
                            <a:srgbClr val="182B3A"/>
                          </a:solidFill>
                          <a:latin typeface="Arial"/>
                        </a:rPr>
                        <a:t>sujitpatil373750@gmail.com</a:t>
                      </a: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400" b="0" dirty="0">
                        <a:solidFill>
                          <a:srgbClr val="182B3A"/>
                        </a:solidFill>
                        <a:latin typeface="Arial"/>
                      </a:endParaRPr>
                    </a:p>
                    <a:p>
                      <a:endParaRPr lang="en-IN" sz="1400" b="0" dirty="0">
                        <a:solidFill>
                          <a:srgbClr val="182B3A"/>
                        </a:solidFill>
                        <a:latin typeface="Arial"/>
                      </a:endParaRPr>
                    </a:p>
                    <a:p>
                      <a:pPr algn="ctr"/>
                      <a:r>
                        <a:rPr sz="1400" b="0" dirty="0">
                          <a:solidFill>
                            <a:srgbClr val="182B3A"/>
                          </a:solidFill>
                          <a:latin typeface="Arial"/>
                        </a:rPr>
                        <a:t>7020462425</a:t>
                      </a: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F0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1800" b="1">
                <a:solidFill>
                  <a:srgbClr val="087443"/>
                </a:solidFill>
                <a:latin typeface="Arial"/>
              </a:rPr>
              <a:t>Domain of Project – Energy / Sustainability / AI</a:t>
            </a:r>
            <a:endParaRPr lang="en-IN" sz="2400" b="1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9581177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1800" b="1">
                <a:solidFill>
                  <a:srgbClr val="087443"/>
                </a:solidFill>
                <a:latin typeface="Arial"/>
              </a:rPr>
              <a:t>Project Title – Electricity Consumption Awareness Agent</a:t>
            </a:r>
            <a:endParaRPr lang="en-IN" sz="2400" b="1">
              <a:highlight>
                <a:srgbClr val="FFFF00"/>
              </a:highlight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F052D13-723C-5349-33C2-1BB705A7FF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3573" y="3578942"/>
            <a:ext cx="1533833" cy="11885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7" name="TextBox 96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F6745E-14BA-0766-CE1E-32E29663832D}"/>
              </a:ext>
            </a:extLst>
          </p:cNvPr>
          <p:cNvSpPr txBox="1"/>
          <p:nvPr/>
        </p:nvSpPr>
        <p:spPr>
          <a:xfrm>
            <a:off x="576072" y="859585"/>
            <a:ext cx="10607040" cy="406265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base"/>
            <a:endParaRPr lang="en-US" sz="1800" b="0" dirty="0">
              <a:solidFill>
                <a:srgbClr val="182B3A"/>
              </a:solidFill>
              <a:latin typeface="Arial"/>
            </a:endParaRPr>
          </a:p>
          <a:p>
            <a:pPr fontAlgn="base"/>
            <a:r>
              <a:rPr sz="1800" b="0" dirty="0">
                <a:solidFill>
                  <a:srgbClr val="182B3A"/>
                </a:solidFill>
                <a:latin typeface="Arial"/>
              </a:rPr>
              <a:t>Problem Statement: AI Agent for Electricity Consumption Awareness</a:t>
            </a:r>
            <a:br>
              <a:rPr dirty="0"/>
            </a:b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The Challenge</a:t>
            </a: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Many consumers lack awareness of how daily activities and appliance usage affect electricity consumption. This can lead to inefficient usage and unnecessary energy wastage.</a:t>
            </a:r>
            <a:br>
              <a:rPr dirty="0"/>
            </a:b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The challenge is to build an AI agent that educates users about electricity consumption patterns and promotes energy-efficient behavior.</a:t>
            </a:r>
            <a:br>
              <a:rPr dirty="0"/>
            </a:b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Objectives</a:t>
            </a: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1. Analyze household electricity usage and identify unusually high consumption.</a:t>
            </a: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2. Explain consumption patterns in simple language.</a:t>
            </a: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3. Provide practical energy-saving suggestions.</a:t>
            </a:r>
            <a:br>
              <a:rPr dirty="0"/>
            </a:br>
            <a:r>
              <a:rPr sz="1800" b="0" dirty="0">
                <a:solidFill>
                  <a:srgbClr val="182B3A"/>
                </a:solidFill>
                <a:latin typeface="Arial"/>
              </a:rPr>
              <a:t>4. Support conversational questions and personalized insights.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47FA31-EA47-D27A-9D69-AF50A3080AEC}"/>
              </a:ext>
            </a:extLst>
          </p:cNvPr>
          <p:cNvSpPr txBox="1"/>
          <p:nvPr/>
        </p:nvSpPr>
        <p:spPr>
          <a:xfrm>
            <a:off x="576072" y="0"/>
            <a:ext cx="7214616" cy="9541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endParaRPr lang="en-US" sz="2800" b="1" dirty="0">
              <a:solidFill>
                <a:srgbClr val="071B2B"/>
              </a:solidFill>
              <a:latin typeface="Arial"/>
            </a:endParaRPr>
          </a:p>
          <a:p>
            <a:r>
              <a:rPr sz="2800" b="1" dirty="0">
                <a:solidFill>
                  <a:srgbClr val="071B2B"/>
                </a:solidFill>
                <a:latin typeface="Arial"/>
              </a:rPr>
              <a:t>Problem Statement</a:t>
            </a:r>
            <a:endParaRPr lang="en-IN" sz="28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3</a:t>
            </a:r>
          </a:p>
        </p:txBody>
      </p:sp>
    </p:spTree>
    <p:extLst>
      <p:ext uri="{BB962C8B-B14F-4D97-AF65-F5344CB8AC3E}">
        <p14:creationId xmlns:p14="http://schemas.microsoft.com/office/powerpoint/2010/main" val="2952584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1BF701-ABCA-4DF0-8330-B6AF71EF8E39}"/>
              </a:ext>
            </a:extLst>
          </p:cNvPr>
          <p:cNvSpPr txBox="1"/>
          <p:nvPr/>
        </p:nvSpPr>
        <p:spPr>
          <a:xfrm>
            <a:off x="576072" y="1234440"/>
            <a:ext cx="10607040" cy="52629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fontAlgn="base"/>
            <a:r>
              <a:rPr sz="1700" b="0">
                <a:solidFill>
                  <a:srgbClr val="182B3A"/>
                </a:solidFill>
                <a:latin typeface="Arial"/>
              </a:rPr>
              <a:t>Proposed Solution: PowerWise AI Agent</a:t>
            </a:r>
            <a:br/>
            <a:br/>
            <a:r>
              <a:rPr sz="1700" b="0">
                <a:solidFill>
                  <a:srgbClr val="182B3A"/>
                </a:solidFill>
                <a:latin typeface="Arial"/>
              </a:rPr>
              <a:t>PowerWise is an AI-powered electricity awareness assistant built to analyze household consumption, explain usage patterns, detect high-consumption areas, and recommend practical energy-saving actions.</a:t>
            </a:r>
            <a:br/>
            <a:br/>
            <a:r>
              <a:rPr sz="1700" b="0">
                <a:solidFill>
                  <a:srgbClr val="182B3A"/>
                </a:solidFill>
                <a:latin typeface="Arial"/>
              </a:rPr>
              <a:t>The solution combines IBM watsonx Orchestrate with IBM Granite models. Users interact through a conversational interface and can provide electricity or appliance usage data. The agent interprets the data, identifies trends or anomalies, and produces understandable recommendations.</a:t>
            </a:r>
            <a:br/>
            <a:br/>
            <a:r>
              <a:rPr sz="1700" b="0">
                <a:solidFill>
                  <a:srgbClr val="182B3A"/>
                </a:solidFill>
                <a:latin typeface="Arial"/>
              </a:rPr>
              <a:t>Core capabilities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Consumption analysis and trend detection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Appliance-level usage analysis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Electricity bill and kWh awareness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Personalized energy-saving recommendations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Conversational assistance</a:t>
            </a:r>
            <a:endParaRPr lang="en-US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7F30CC-07EF-8FCC-DA00-C9212F5DAECE}"/>
              </a:ext>
            </a:extLst>
          </p:cNvPr>
          <p:cNvSpPr txBox="1"/>
          <p:nvPr/>
        </p:nvSpPr>
        <p:spPr>
          <a:xfrm>
            <a:off x="576072" y="704088"/>
            <a:ext cx="721461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800" b="1">
                <a:solidFill>
                  <a:srgbClr val="071B2B"/>
                </a:solidFill>
                <a:latin typeface="Arial"/>
              </a:rPr>
              <a:t>Proposed Solution</a:t>
            </a:r>
            <a:endParaRPr lang="en-IN" sz="2400" b="1"/>
          </a:p>
        </p:txBody>
      </p:sp>
      <p:sp>
        <p:nvSpPr>
          <p:cNvPr id="4" name="TextBox 3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4</a:t>
            </a:r>
          </a:p>
        </p:txBody>
      </p:sp>
    </p:spTree>
    <p:extLst>
      <p:ext uri="{BB962C8B-B14F-4D97-AF65-F5344CB8AC3E}">
        <p14:creationId xmlns:p14="http://schemas.microsoft.com/office/powerpoint/2010/main" val="2290294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sz="2800" b="1">
                <a:solidFill>
                  <a:srgbClr val="071B2B"/>
                </a:solidFill>
                <a:latin typeface="Arial"/>
              </a:rPr>
              <a:t>Technology Used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7608B5-9906-EFCF-959A-E89FC2E3EE19}"/>
              </a:ext>
            </a:extLst>
          </p:cNvPr>
          <p:cNvSpPr txBox="1"/>
          <p:nvPr/>
        </p:nvSpPr>
        <p:spPr>
          <a:xfrm>
            <a:off x="777240" y="1207008"/>
            <a:ext cx="10515600" cy="55092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sz="1700" b="0">
                <a:solidFill>
                  <a:srgbClr val="182B3A"/>
                </a:solidFill>
                <a:latin typeface="Arial"/>
              </a:rPr>
              <a:t>• IBM watsonx Orchestrate – Agent building, behavior, guidelines, knowledge, tools, testing and deployment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IBM Granite Models – Natural-language understanding, reasoning, summarization and recommendations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IBM Cloud – Cloud infrastructure for the AI solution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Knowledge / RAG – Ground the agent in trusted electricity and energy-efficiency information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Speech-to-Text / Text-to-Speech – Optional voice interaction through supported providers</a:t>
            </a:r>
            <a:br/>
            <a:r>
              <a:rPr sz="1700" b="0">
                <a:solidFill>
                  <a:srgbClr val="182B3A"/>
                </a:solidFill>
                <a:latin typeface="Arial"/>
              </a:rPr>
              <a:t>• HTML, CSS &amp; JavaScript – PowerWise dashboard and conversational web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5</a:t>
            </a:r>
          </a:p>
        </p:txBody>
      </p:sp>
    </p:spTree>
    <p:extLst>
      <p:ext uri="{BB962C8B-B14F-4D97-AF65-F5344CB8AC3E}">
        <p14:creationId xmlns:p14="http://schemas.microsoft.com/office/powerpoint/2010/main" val="3764405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id="{2A145802-2DD3-EEBA-7D44-210C05B98C91}"/>
              </a:ext>
            </a:extLst>
          </p:cNvPr>
          <p:cNvSpPr/>
          <p:nvPr/>
        </p:nvSpPr>
        <p:spPr>
          <a:xfrm>
            <a:off x="537590" y="323238"/>
            <a:ext cx="8154126" cy="127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sz="2700" b="1" dirty="0">
                <a:solidFill>
                  <a:srgbClr val="071B2B"/>
                </a:solidFill>
                <a:latin typeface="Arial"/>
              </a:rPr>
              <a:t>IBM </a:t>
            </a:r>
            <a:r>
              <a:rPr sz="2700" b="1" dirty="0" err="1">
                <a:solidFill>
                  <a:srgbClr val="071B2B"/>
                </a:solidFill>
                <a:latin typeface="Arial"/>
              </a:rPr>
              <a:t>watsonx</a:t>
            </a:r>
            <a:r>
              <a:rPr sz="2700" b="1" dirty="0">
                <a:solidFill>
                  <a:srgbClr val="071B2B"/>
                </a:solidFill>
                <a:latin typeface="Arial"/>
              </a:rPr>
              <a:t> Orchestrate Components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B86949-7ED1-C43B-B1E3-5122BB67A596}"/>
              </a:ext>
            </a:extLst>
          </p:cNvPr>
          <p:cNvSpPr txBox="1"/>
          <p:nvPr/>
        </p:nvSpPr>
        <p:spPr>
          <a:xfrm>
            <a:off x="486866" y="1285130"/>
            <a:ext cx="8799871" cy="193899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1500" b="0" dirty="0">
                <a:solidFill>
                  <a:srgbClr val="182B3A"/>
                </a:solidFill>
                <a:latin typeface="Arial"/>
              </a:rPr>
              <a:t>1) Chat Input – User enters electricity questions, consumption data, appliance details or bill information.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2) IBM </a:t>
            </a:r>
            <a:r>
              <a:rPr sz="1500" b="0" dirty="0" err="1">
                <a:solidFill>
                  <a:srgbClr val="182B3A"/>
                </a:solidFill>
                <a:latin typeface="Arial"/>
              </a:rPr>
              <a:t>watsonx</a:t>
            </a:r>
            <a:r>
              <a:rPr sz="1500" b="0" dirty="0">
                <a:solidFill>
                  <a:srgbClr val="182B3A"/>
                </a:solidFill>
                <a:latin typeface="Arial"/>
              </a:rPr>
              <a:t> AI Agent – Interprets the request and coordinates the response.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3) IBM Granite Model – Provides reasoning, summarization and natural-language generation.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4) Guidelines – Define behavior for analysis, anomaly detection, recommendations and missing data.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5) Knowledge – Provides grounded electricity-awareness and energy-efficiency information.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6) Tools – Can support calculations, data processing and future integrations.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7) Chat Output – Returns clear insights, explanations and energy-saving recommendations.</a:t>
            </a:r>
            <a:endParaRPr lang="en-US" dirty="0"/>
          </a:p>
        </p:txBody>
      </p:sp>
      <p:sp>
        <p:nvSpPr>
          <p:cNvPr id="163" name="TextBox 162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6</a:t>
            </a:r>
          </a:p>
        </p:txBody>
      </p:sp>
    </p:spTree>
    <p:extLst>
      <p:ext uri="{BB962C8B-B14F-4D97-AF65-F5344CB8AC3E}">
        <p14:creationId xmlns:p14="http://schemas.microsoft.com/office/powerpoint/2010/main" val="328526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sz="2700" b="1">
                <a:solidFill>
                  <a:srgbClr val="071B2B"/>
                </a:solidFill>
                <a:latin typeface="Arial"/>
              </a:rPr>
              <a:t>Agent Instructions – PowerWise</a:t>
            </a:r>
            <a:endParaRPr sz="2400" b="1">
              <a:sym typeface="Times New Roman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11110B-2501-DC77-CBE5-573F008B9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28" y="943897"/>
            <a:ext cx="11415253" cy="5257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501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D458060A-E278-BD66-87FB-2E75164BF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4B8BE564-07ED-5E4D-A85D-C78B8A391EE9}"/>
              </a:ext>
            </a:extLst>
          </p:cNvPr>
          <p:cNvSpPr/>
          <p:nvPr/>
        </p:nvSpPr>
        <p:spPr>
          <a:xfrm>
            <a:off x="537590" y="381112"/>
            <a:ext cx="7616194" cy="390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rgbClr val="051D3A"/>
              </a:buClr>
              <a:buSzPts val="3500"/>
            </a:pPr>
            <a:r>
              <a:rPr sz="2700" b="1">
                <a:solidFill>
                  <a:srgbClr val="071B2B"/>
                </a:solidFill>
                <a:latin typeface="Arial"/>
              </a:rPr>
              <a:t>Knowledge Sources – Electricity Awareness</a:t>
            </a:r>
            <a:endParaRPr sz="2400" b="1" dirty="0">
              <a:sym typeface="Times New Roman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0D6461E-DA88-AFE8-EAFF-84E9A424BF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276" y="984647"/>
            <a:ext cx="11539779" cy="548930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8</a:t>
            </a:r>
          </a:p>
        </p:txBody>
      </p:sp>
    </p:spTree>
    <p:extLst>
      <p:ext uri="{BB962C8B-B14F-4D97-AF65-F5344CB8AC3E}">
        <p14:creationId xmlns:p14="http://schemas.microsoft.com/office/powerpoint/2010/main" val="7553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C1F377F-D2E8-46B5-C7F3-C58589F4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189D03E3-C782-BAA0-25CD-AC8F93A156A1}"/>
              </a:ext>
            </a:extLst>
          </p:cNvPr>
          <p:cNvSpPr/>
          <p:nvPr/>
        </p:nvSpPr>
        <p:spPr>
          <a:xfrm>
            <a:off x="537590" y="381112"/>
            <a:ext cx="7616194" cy="390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2700" b="1">
                <a:solidFill>
                  <a:srgbClr val="071B2B"/>
                </a:solidFill>
                <a:latin typeface="Arial"/>
              </a:rPr>
              <a:t>Prompt with Output – PowerWise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DC055-9DE8-731B-4573-E65371EBEDCA}"/>
              </a:ext>
            </a:extLst>
          </p:cNvPr>
          <p:cNvSpPr txBox="1"/>
          <p:nvPr/>
        </p:nvSpPr>
        <p:spPr>
          <a:xfrm>
            <a:off x="1375037" y="1172400"/>
            <a:ext cx="8491957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400" b="0">
                <a:solidFill>
                  <a:srgbClr val="607386"/>
                </a:solidFill>
                <a:latin typeface="Arial"/>
              </a:rPr>
              <a:t>Example test conversation demonstrating consumption analysis.</a:t>
            </a:r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EA8F3D0-52BA-100E-3FD8-228494F48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54" y="1154932"/>
            <a:ext cx="9628931" cy="4962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9</a:t>
            </a:r>
          </a:p>
        </p:txBody>
      </p:sp>
    </p:spTree>
    <p:extLst>
      <p:ext uri="{BB962C8B-B14F-4D97-AF65-F5344CB8AC3E}">
        <p14:creationId xmlns:p14="http://schemas.microsoft.com/office/powerpoint/2010/main" val="3146073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id="{BC1F377F-D2E8-46B5-C7F3-C58589F45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189D03E3-C782-BAA0-25CD-AC8F93A156A1}"/>
              </a:ext>
            </a:extLst>
          </p:cNvPr>
          <p:cNvSpPr/>
          <p:nvPr/>
        </p:nvSpPr>
        <p:spPr>
          <a:xfrm>
            <a:off x="537590" y="381112"/>
            <a:ext cx="7616194" cy="390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2700" b="1">
                <a:solidFill>
                  <a:srgbClr val="071B2B"/>
                </a:solidFill>
                <a:latin typeface="Arial"/>
              </a:rPr>
              <a:t>Other Applicable Test Cases</a:t>
            </a:r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594360" y="1325880"/>
            <a:ext cx="48920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300" b="0">
                <a:solidFill>
                  <a:srgbClr val="182B3A"/>
                </a:solidFill>
                <a:latin typeface="Arial"/>
              </a:rPr>
              <a:t>Highest Consumer</a:t>
            </a:r>
            <a:br/>
            <a:br/>
            <a:r>
              <a:rPr sz="1300" b="0">
                <a:solidFill>
                  <a:srgbClr val="182B3A"/>
                </a:solidFill>
                <a:latin typeface="Arial"/>
              </a:rPr>
              <a:t>Prompt: Which appliance consumes the most electricity?</a:t>
            </a:r>
            <a:br/>
            <a:r>
              <a:rPr sz="1300" b="0">
                <a:solidFill>
                  <a:srgbClr val="182B3A"/>
                </a:solidFill>
                <a:latin typeface="Arial"/>
              </a:rPr>
              <a:t>Expected behavior: Identify the highest contributor and explain its percentage / kWh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0" y="1325880"/>
            <a:ext cx="48920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300" b="0">
                <a:solidFill>
                  <a:srgbClr val="182B3A"/>
                </a:solidFill>
                <a:latin typeface="Arial"/>
              </a:rPr>
              <a:t>Saving Tips</a:t>
            </a:r>
            <a:br/>
            <a:br/>
            <a:r>
              <a:rPr sz="1300" b="0">
                <a:solidFill>
                  <a:srgbClr val="182B3A"/>
                </a:solidFill>
                <a:latin typeface="Arial"/>
              </a:rPr>
              <a:t>Prompt: How can I reduce my electricity bill?</a:t>
            </a:r>
            <a:br/>
            <a:r>
              <a:rPr sz="1300" b="0">
                <a:solidFill>
                  <a:srgbClr val="182B3A"/>
                </a:solidFill>
                <a:latin typeface="Arial"/>
              </a:rPr>
              <a:t>Expected behavior: Prioritize practical actions based on the biggest consumption contributors.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474720"/>
            <a:ext cx="48920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300" b="0">
                <a:solidFill>
                  <a:srgbClr val="182B3A"/>
                </a:solidFill>
                <a:latin typeface="Arial"/>
              </a:rPr>
              <a:t>Explain kWh</a:t>
            </a:r>
            <a:br/>
            <a:br/>
            <a:r>
              <a:rPr sz="1300" b="0">
                <a:solidFill>
                  <a:srgbClr val="182B3A"/>
                </a:solidFill>
                <a:latin typeface="Arial"/>
              </a:rPr>
              <a:t>Prompt: What is 1 unit of electricity?</a:t>
            </a:r>
            <a:br/>
            <a:r>
              <a:rPr sz="1300" b="0">
                <a:solidFill>
                  <a:srgbClr val="182B3A"/>
                </a:solidFill>
                <a:latin typeface="Arial"/>
              </a:rPr>
              <a:t>Expected behavior: Explain that 1 unit corresponds to 1 kWh using a simple appliance example.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3474720"/>
            <a:ext cx="489204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300" b="0">
                <a:solidFill>
                  <a:srgbClr val="182B3A"/>
                </a:solidFill>
                <a:latin typeface="Arial"/>
              </a:rPr>
              <a:t>Missing Data</a:t>
            </a:r>
            <a:br/>
            <a:br/>
            <a:r>
              <a:rPr sz="1300" b="0">
                <a:solidFill>
                  <a:srgbClr val="182B3A"/>
                </a:solidFill>
                <a:latin typeface="Arial"/>
              </a:rPr>
              <a:t>Prompt: Can you estimate my bill?</a:t>
            </a:r>
            <a:br/>
            <a:r>
              <a:rPr sz="1300" b="0">
                <a:solidFill>
                  <a:srgbClr val="182B3A"/>
                </a:solidFill>
                <a:latin typeface="Arial"/>
              </a:rPr>
              <a:t>Expected behavior: Ask for required consumption and tariff information rather than inventing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10</a:t>
            </a:r>
          </a:p>
        </p:txBody>
      </p:sp>
    </p:spTree>
    <p:extLst>
      <p:ext uri="{BB962C8B-B14F-4D97-AF65-F5344CB8AC3E}">
        <p14:creationId xmlns:p14="http://schemas.microsoft.com/office/powerpoint/2010/main" val="33421565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id="{78578745-3233-E2C4-2AF4-55BA57C68D3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2700" b="1">
                <a:solidFill>
                  <a:srgbClr val="071B2B"/>
                </a:solidFill>
                <a:latin typeface="Arial"/>
              </a:rPr>
              <a:t>PowerWise – Orchestrate Architecture Blueprint</a:t>
            </a:r>
            <a:endParaRPr lang="en-US" sz="2400">
              <a:solidFill>
                <a:schemeClr val="dk1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38175" y="1241958"/>
            <a:ext cx="11054665" cy="561604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7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828800" cy="1234440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268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200" b="0">
                <a:solidFill>
                  <a:srgbClr val="182B3A"/>
                </a:solidFill>
                <a:latin typeface="Arial"/>
              </a:rPr>
              <a:t>User / Web Dashboard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Questions • Usage data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Bill / appliance details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828800"/>
            <a:ext cx="1828800" cy="123444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19A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200" b="0">
                <a:solidFill>
                  <a:srgbClr val="182B3A"/>
                </a:solidFill>
                <a:latin typeface="Arial"/>
              </a:rPr>
              <a:t>IBM watsonx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Orchestrate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Agent behavior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Guidelines • Tools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1828800"/>
            <a:ext cx="1828800" cy="1234440"/>
          </a:xfrm>
          <a:prstGeom prst="roundRect">
            <a:avLst/>
          </a:prstGeom>
          <a:solidFill>
            <a:srgbClr val="E8F8EF"/>
          </a:solidFill>
          <a:ln w="12700">
            <a:solidFill>
              <a:srgbClr val="19A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200" b="0">
                <a:solidFill>
                  <a:srgbClr val="182B3A"/>
                </a:solidFill>
                <a:latin typeface="Arial"/>
              </a:rPr>
              <a:t>IBM Granite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Model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Reasoning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828800"/>
            <a:ext cx="1828800" cy="1234440"/>
          </a:xfrm>
          <a:prstGeom prst="roundRect">
            <a:avLst/>
          </a:prstGeom>
          <a:solidFill>
            <a:srgbClr val="F5F7FF"/>
          </a:solidFill>
          <a:ln w="12700">
            <a:solidFill>
              <a:srgbClr val="736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200" b="0">
                <a:solidFill>
                  <a:srgbClr val="182B3A"/>
                </a:solidFill>
                <a:latin typeface="Arial"/>
              </a:rPr>
              <a:t>Knowledge / RAG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Electricity facts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Energy-efficiency content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4206240"/>
            <a:ext cx="1828800" cy="1234440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200" b="0">
                <a:solidFill>
                  <a:srgbClr val="182B3A"/>
                </a:solidFill>
                <a:latin typeface="Arial"/>
              </a:rPr>
              <a:t>Analysis Layer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kWh calculations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Trend / anomaly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4206240"/>
            <a:ext cx="1828800" cy="1234440"/>
          </a:xfrm>
          <a:prstGeom prst="roundRect">
            <a:avLst/>
          </a:prstGeom>
          <a:solidFill>
            <a:srgbClr val="EEF9F4"/>
          </a:solidFill>
          <a:ln w="12700">
            <a:solidFill>
              <a:srgbClr val="19A4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sz="1200" b="0">
                <a:solidFill>
                  <a:srgbClr val="182B3A"/>
                </a:solidFill>
                <a:latin typeface="Arial"/>
              </a:rPr>
              <a:t>AI Output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Insights</a:t>
            </a:r>
            <a:br/>
            <a:r>
              <a:rPr sz="1200" b="0">
                <a:solidFill>
                  <a:srgbClr val="182B3A"/>
                </a:solidFill>
                <a:latin typeface="Arial"/>
              </a:rPr>
              <a:t>Saving recommendations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33472" y="2331720"/>
            <a:ext cx="338328" cy="201168"/>
          </a:xfrm>
          <a:prstGeom prst="rightArrow">
            <a:avLst/>
          </a:prstGeom>
          <a:solidFill>
            <a:srgbClr val="268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ight Arrow 11"/>
          <p:cNvSpPr/>
          <p:nvPr/>
        </p:nvSpPr>
        <p:spPr>
          <a:xfrm>
            <a:off x="4553712" y="2331720"/>
            <a:ext cx="429767" cy="201168"/>
          </a:xfrm>
          <a:prstGeom prst="rightArrow">
            <a:avLst/>
          </a:prstGeom>
          <a:solidFill>
            <a:srgbClr val="268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>
            <a:off x="6565392" y="2331720"/>
            <a:ext cx="521208" cy="201168"/>
          </a:xfrm>
          <a:prstGeom prst="rightArrow">
            <a:avLst/>
          </a:prstGeom>
          <a:solidFill>
            <a:srgbClr val="268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623560" y="3063240"/>
            <a:ext cx="320040" cy="201168"/>
          </a:xfrm>
          <a:prstGeom prst="rightArrow">
            <a:avLst/>
          </a:prstGeom>
          <a:solidFill>
            <a:srgbClr val="268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6858000" y="3063240"/>
            <a:ext cx="1097279" cy="201168"/>
          </a:xfrm>
          <a:prstGeom prst="rightArrow">
            <a:avLst/>
          </a:prstGeom>
          <a:solidFill>
            <a:srgbClr val="268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ight Arrow 15"/>
          <p:cNvSpPr/>
          <p:nvPr/>
        </p:nvSpPr>
        <p:spPr>
          <a:xfrm>
            <a:off x="4572000" y="4800600"/>
            <a:ext cx="2514600" cy="201168"/>
          </a:xfrm>
          <a:prstGeom prst="rightArrow">
            <a:avLst/>
          </a:prstGeom>
          <a:solidFill>
            <a:srgbClr val="268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800" b="1">
                <a:solidFill>
                  <a:srgbClr val="071B2B"/>
                </a:solidFill>
                <a:latin typeface="Arial"/>
              </a:rPr>
              <a:t>Role of Agentic AI in the Solution</a:t>
            </a:r>
            <a:endParaRPr lang="en-IN" sz="32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2462E8-EB3A-DA7D-44CB-4E757803A755}"/>
              </a:ext>
            </a:extLst>
          </p:cNvPr>
          <p:cNvSpPr txBox="1"/>
          <p:nvPr/>
        </p:nvSpPr>
        <p:spPr>
          <a:xfrm>
            <a:off x="621792" y="1167493"/>
            <a:ext cx="7406640" cy="31085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1600" b="0">
                <a:solidFill>
                  <a:srgbClr val="182B3A"/>
                </a:solidFill>
                <a:latin typeface="Arial"/>
              </a:rPr>
              <a:t>Role of Agentic AI in Electricity Consumption Awareness Agent</a:t>
            </a:r>
            <a:br/>
            <a:br/>
            <a:r>
              <a:rPr sz="1600" b="0">
                <a:solidFill>
                  <a:srgbClr val="182B3A"/>
                </a:solidFill>
                <a:latin typeface="Arial"/>
              </a:rPr>
              <a:t>Agentic AI enables PowerWise to act as an intelligent, goal-driven assistant rather than a simple question-answering chatbot. The agent interprets user intent, uses available electricity data and knowledge, applies configured guidelines, and produces a useful response.</a:t>
            </a:r>
            <a:br/>
            <a:br/>
            <a:r>
              <a:rPr sz="1600" b="0">
                <a:solidFill>
                  <a:srgbClr val="182B3A"/>
                </a:solidFill>
                <a:latin typeface="Arial"/>
              </a:rPr>
              <a:t>Key roles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• Context awareness – understands the user's current electricity question and available data.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• Analysis – identifies consumption patterns, spikes and high-use areas.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• Reasoning – connects consumption information with practical energy-saving actions.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• Personalization – recommendations can reflect the user's appliances and usage pattern.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• Tool and knowledge use – can combine calculations with grounded information.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• Conversational interaction – supports follow-up questions and explanations.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A184BA-BCF2-3D7B-30D0-0F3CF30C161B}"/>
              </a:ext>
            </a:extLst>
          </p:cNvPr>
          <p:cNvSpPr txBox="1"/>
          <p:nvPr/>
        </p:nvSpPr>
        <p:spPr>
          <a:xfrm>
            <a:off x="777240" y="484632"/>
            <a:ext cx="712317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2800" b="1">
                <a:solidFill>
                  <a:srgbClr val="071B2B"/>
                </a:solidFill>
                <a:latin typeface="Arial"/>
              </a:rPr>
              <a:t>Novelty and Uniqueness</a:t>
            </a:r>
            <a:endParaRPr lang="en-IN" sz="2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65F54F-855A-0DB6-09A6-3212C5F7405B}"/>
              </a:ext>
            </a:extLst>
          </p:cNvPr>
          <p:cNvSpPr txBox="1"/>
          <p:nvPr/>
        </p:nvSpPr>
        <p:spPr>
          <a:xfrm>
            <a:off x="777240" y="1207008"/>
            <a:ext cx="11301984" cy="529375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sz="1600" b="0">
                <a:solidFill>
                  <a:srgbClr val="182B3A"/>
                </a:solidFill>
                <a:latin typeface="Arial"/>
              </a:rPr>
              <a:t>PowerWise combines agentic AI, electricity-data analysis, knowledge grounding, and personalized energy-awareness guidance in one conversational system.</a:t>
            </a:r>
            <a:br/>
            <a:br/>
            <a:r>
              <a:rPr sz="1600" b="0">
                <a:solidFill>
                  <a:srgbClr val="182B3A"/>
                </a:solidFill>
                <a:latin typeface="Arial"/>
              </a:rPr>
              <a:t>1. Consumption-aware intelligence – focuses on actual household usage patterns rather than generic advice.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2. Explainable insights – converts raw consumption into simple, understandable observations.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3. Appliance prioritization – identifies major contributors so users can focus on the biggest opportunities.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4. Personalized recommendations – suggestions can reflect the user's consumption profile.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5. Grounded responses – knowledge sources can support trustworthy electricity and energy-efficiency explanations.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6. Conversational experience – users can ask follow-up questions naturally.</a:t>
            </a:r>
            <a:br/>
            <a:r>
              <a:rPr sz="1600" b="0">
                <a:solidFill>
                  <a:srgbClr val="182B3A"/>
                </a:solidFill>
                <a:latin typeface="Arial"/>
              </a:rPr>
              <a:t>7. Extensible architecture – voice, smart-meter data and additional tools can be added later.</a:t>
            </a:r>
            <a:br/>
            <a:br/>
            <a:r>
              <a:rPr sz="1600" b="0">
                <a:solidFill>
                  <a:srgbClr val="182B3A"/>
                </a:solidFill>
                <a:latin typeface="Arial"/>
              </a:rPr>
              <a:t>This makes PowerWise more than a static energy-tip application: it is designed as an interactive AI agent for electricity awareness.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13</a:t>
            </a:r>
          </a:p>
        </p:txBody>
      </p:sp>
    </p:spTree>
    <p:extLst>
      <p:ext uri="{BB962C8B-B14F-4D97-AF65-F5344CB8AC3E}">
        <p14:creationId xmlns:p14="http://schemas.microsoft.com/office/powerpoint/2010/main" val="917964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sz="2800" b="1">
                <a:solidFill>
                  <a:srgbClr val="071B2B"/>
                </a:solidFill>
                <a:latin typeface="Arial"/>
              </a:rPr>
              <a:t>GitHub Repository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sz="1600" b="0" dirty="0">
                <a:solidFill>
                  <a:srgbClr val="182B3A"/>
                </a:solidFill>
                <a:latin typeface="Arial"/>
              </a:rPr>
              <a:t>Create a public GitHub repository for the project and paste the working repository URL here.</a:t>
            </a:r>
            <a:br>
              <a:rPr dirty="0"/>
            </a:b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Recommended repository contents:</a:t>
            </a: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1. index.html – </a:t>
            </a:r>
            <a:r>
              <a:rPr sz="1600" b="0" dirty="0" err="1">
                <a:solidFill>
                  <a:srgbClr val="182B3A"/>
                </a:solidFill>
                <a:latin typeface="Arial"/>
              </a:rPr>
              <a:t>PowerWise</a:t>
            </a:r>
            <a:r>
              <a:rPr sz="1600" b="0" dirty="0">
                <a:solidFill>
                  <a:srgbClr val="182B3A"/>
                </a:solidFill>
                <a:latin typeface="Arial"/>
              </a:rPr>
              <a:t> dashboard prototype</a:t>
            </a: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2. </a:t>
            </a:r>
            <a:r>
              <a:rPr sz="1600" b="0" dirty="0" err="1">
                <a:solidFill>
                  <a:srgbClr val="182B3A"/>
                </a:solidFill>
                <a:latin typeface="Arial"/>
              </a:rPr>
              <a:t>app.json</a:t>
            </a:r>
            <a:r>
              <a:rPr sz="1600" b="0" dirty="0">
                <a:solidFill>
                  <a:srgbClr val="182B3A"/>
                </a:solidFill>
                <a:latin typeface="Arial"/>
              </a:rPr>
              <a:t> – IBM project/application configuration, if used</a:t>
            </a: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3. Problem statement / project documentation PDF</a:t>
            </a: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4. Electricity_Consumption_Awareness_Agent.pptx</a:t>
            </a: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5. Screenshots of IBM </a:t>
            </a:r>
            <a:r>
              <a:rPr sz="1600" b="0" dirty="0" err="1">
                <a:solidFill>
                  <a:srgbClr val="182B3A"/>
                </a:solidFill>
                <a:latin typeface="Arial"/>
              </a:rPr>
              <a:t>watsonx</a:t>
            </a:r>
            <a:r>
              <a:rPr sz="1600" b="0" dirty="0">
                <a:solidFill>
                  <a:srgbClr val="182B3A"/>
                </a:solidFill>
                <a:latin typeface="Arial"/>
              </a:rPr>
              <a:t> Orchestrate configuration and test outputs</a:t>
            </a: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6. README.md with setup, architecture, features and demo instructions</a:t>
            </a:r>
            <a:br>
              <a:rPr dirty="0"/>
            </a:br>
            <a:br>
              <a:rPr dirty="0"/>
            </a:br>
            <a:r>
              <a:rPr sz="1600" b="0" dirty="0">
                <a:solidFill>
                  <a:srgbClr val="182B3A"/>
                </a:solidFill>
                <a:latin typeface="Arial"/>
              </a:rPr>
              <a:t>GitHub URL: </a:t>
            </a:r>
            <a:r>
              <a:rPr lang="en-US" sz="1600" b="0" dirty="0">
                <a:solidFill>
                  <a:srgbClr val="182B3A"/>
                </a:solidFill>
                <a:latin typeface="Arial"/>
              </a:rPr>
              <a:t> </a:t>
            </a:r>
            <a:r>
              <a:rPr lang="en-IN" sz="1600" dirty="0">
                <a:solidFill>
                  <a:srgbClr val="182B3A"/>
                </a:solidFill>
              </a:rPr>
              <a:t>https://github.com/devsujit77</a:t>
            </a:r>
            <a:endParaRPr sz="1600" b="0" dirty="0">
              <a:solidFill>
                <a:srgbClr val="182B3A"/>
              </a:solidFill>
              <a:latin typeface="Arial"/>
            </a:endParaRP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E228982D-BF81-530A-CBA1-E897A3CA8EF7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7BC356B8-92F8-3187-D065-667AACF68E72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3" name="TextBox 282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14</a:t>
            </a:r>
          </a:p>
        </p:txBody>
      </p:sp>
    </p:spTree>
    <p:extLst>
      <p:ext uri="{BB962C8B-B14F-4D97-AF65-F5344CB8AC3E}">
        <p14:creationId xmlns:p14="http://schemas.microsoft.com/office/powerpoint/2010/main" val="26058519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id="{6FA0F82B-7EE5-EAB0-F470-130BDAC82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id="{0668C6FD-577A-7288-5642-1AFC22BD04F2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sz="2800" b="1">
                <a:solidFill>
                  <a:srgbClr val="071B2B"/>
                </a:solidFill>
                <a:latin typeface="Arial"/>
              </a:rPr>
              <a:t>Future Scope</a:t>
            </a:r>
            <a:endParaRPr sz="2400" b="1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id="{EAFA16CB-0A72-5AC5-69A0-ABF4A752B43F}"/>
              </a:ext>
            </a:extLst>
          </p:cNvPr>
          <p:cNvSpPr/>
          <p:nvPr/>
        </p:nvSpPr>
        <p:spPr>
          <a:xfrm>
            <a:off x="1218724" y="1221715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sz="1500" b="0" dirty="0">
                <a:solidFill>
                  <a:srgbClr val="182B3A"/>
                </a:solidFill>
                <a:latin typeface="Arial"/>
              </a:rPr>
              <a:t>1. Smart Meter Integration – Connect real-time or periodic meter data for automatic consumption monitoring.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2. Appliance-Level Monitoring – Use smart plugs or IoT sensors to measure appliance-specific consumption.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3. AI-Powered Voice Assistant – Extend the agent with Speech-to-Text and Text-to-Speech for hands-free interaction.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4. Multilingual Support – Provide electricity-awareness guidance in English, Hindi, Marathi and other regional languages.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5. Personalized Energy Goals – Let users set monthly consumption and bill-reduction targets and track progress.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6. Advanced Analytics – Add forecasting, anomaly detection and time-of-use analysis.</a:t>
            </a:r>
            <a:br>
              <a:rPr dirty="0"/>
            </a:br>
            <a:r>
              <a:rPr sz="1500" b="0" dirty="0">
                <a:solidFill>
                  <a:srgbClr val="182B3A"/>
                </a:solidFill>
                <a:latin typeface="Arial"/>
              </a:rPr>
              <a:t>7. Utility / Grid Integration – Future integration with utility data could support richer bill and consumption insights.</a:t>
            </a:r>
          </a:p>
        </p:txBody>
      </p:sp>
      <p:sp>
        <p:nvSpPr>
          <p:cNvPr id="280" name="Google Shape;280;p18">
            <a:extLst>
              <a:ext uri="{FF2B5EF4-FFF2-40B4-BE49-F238E27FC236}">
                <a16:creationId xmlns:a16="http://schemas.microsoft.com/office/drawing/2014/main" id="{B888011B-E4AC-77DB-4A60-BE2C891C49F5}"/>
              </a:ext>
            </a:extLst>
          </p:cNvPr>
          <p:cNvSpPr/>
          <p:nvPr/>
        </p:nvSpPr>
        <p:spPr>
          <a:xfrm>
            <a:off x="1218724" y="3360216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1" name="Google Shape;281;p18">
            <a:extLst>
              <a:ext uri="{FF2B5EF4-FFF2-40B4-BE49-F238E27FC236}">
                <a16:creationId xmlns:a16="http://schemas.microsoft.com/office/drawing/2014/main" id="{91F05971-9256-10B5-6575-4E7C679C6DAA}"/>
              </a:ext>
            </a:extLst>
          </p:cNvPr>
          <p:cNvSpPr/>
          <p:nvPr/>
        </p:nvSpPr>
        <p:spPr>
          <a:xfrm>
            <a:off x="1218724" y="4395464"/>
            <a:ext cx="7468553" cy="766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2" name="Google Shape;282;p18">
            <a:extLst>
              <a:ext uri="{FF2B5EF4-FFF2-40B4-BE49-F238E27FC236}">
                <a16:creationId xmlns:a16="http://schemas.microsoft.com/office/drawing/2014/main" id="{F1C3EBC2-438F-C150-9ABF-F14321C2CC5C}"/>
              </a:ext>
            </a:extLst>
          </p:cNvPr>
          <p:cNvSpPr/>
          <p:nvPr/>
        </p:nvSpPr>
        <p:spPr>
          <a:xfrm>
            <a:off x="1218724" y="5430713"/>
            <a:ext cx="7468553" cy="383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2162"/>
              </a:lnSpc>
              <a:spcBef>
                <a:spcPts val="0"/>
              </a:spcBef>
              <a:spcAft>
                <a:spcPts val="0"/>
              </a:spcAft>
              <a:buClr>
                <a:srgbClr val="2B3541"/>
              </a:buClr>
              <a:buSzPts val="1850"/>
              <a:buFont typeface="Times New Roman"/>
              <a:buNone/>
            </a:pPr>
            <a:r>
              <a:rPr lang="en-US" sz="1850" b="0" i="0" u="none" strike="noStrike" cap="none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·</a:t>
            </a:r>
            <a:endParaRPr sz="185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3" name="TextBox 282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15</a:t>
            </a:r>
          </a:p>
        </p:txBody>
      </p:sp>
    </p:spTree>
    <p:extLst>
      <p:ext uri="{BB962C8B-B14F-4D97-AF65-F5344CB8AC3E}">
        <p14:creationId xmlns:p14="http://schemas.microsoft.com/office/powerpoint/2010/main" val="21367067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1C7BCA-5DD7-F4D3-A937-D1C56976DA0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800" b="1">
                <a:solidFill>
                  <a:srgbClr val="071B2B"/>
                </a:solidFill>
                <a:latin typeface="Arial"/>
              </a:rPr>
              <a:t>Certificates Earned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7D5EE-379B-FDC5-0854-8AC81D31FADF}"/>
              </a:ext>
            </a:extLst>
          </p:cNvPr>
          <p:cNvSpPr txBox="1"/>
          <p:nvPr/>
        </p:nvSpPr>
        <p:spPr>
          <a:xfrm>
            <a:off x="552048" y="690061"/>
            <a:ext cx="6389965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800" b="1">
                <a:solidFill>
                  <a:srgbClr val="182B3A"/>
                </a:solidFill>
                <a:latin typeface="Arial"/>
              </a:rPr>
              <a:t>IBM SkillsBuild / Credly Certificate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075594-F574-1594-1A24-F4BC5464A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913" y="1052052"/>
            <a:ext cx="8474174" cy="5623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9047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2800" b="1">
                <a:solidFill>
                  <a:srgbClr val="071B2B"/>
                </a:solidFill>
                <a:latin typeface="Arial"/>
              </a:rPr>
              <a:t>Certificates Earned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D36B1A-26C2-CD55-1032-4CB5E4EDF305}"/>
              </a:ext>
            </a:extLst>
          </p:cNvPr>
          <p:cNvSpPr txBox="1"/>
          <p:nvPr/>
        </p:nvSpPr>
        <p:spPr>
          <a:xfrm>
            <a:off x="496843" y="800470"/>
            <a:ext cx="543768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sz="1800" b="1">
                <a:solidFill>
                  <a:srgbClr val="182B3A"/>
                </a:solidFill>
                <a:latin typeface="Arial"/>
              </a:rPr>
              <a:t>IBM BOB Certificate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473952"/>
            <a:ext cx="1325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607386"/>
                </a:solidFill>
                <a:latin typeface="Arial"/>
              </a:rPr>
              <a:t>PowerWise • 17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3049F4-F002-61BF-2719-4E693854B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499" y="1200580"/>
            <a:ext cx="8779001" cy="5387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107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1269</Words>
  <Application>Microsoft Office PowerPoint</Application>
  <PresentationFormat>Widescreen</PresentationFormat>
  <Paragraphs>74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Aniket</cp:lastModifiedBy>
  <cp:revision>105</cp:revision>
  <dcterms:created xsi:type="dcterms:W3CDTF">2025-07-08T05:06:56Z</dcterms:created>
  <dcterms:modified xsi:type="dcterms:W3CDTF">2026-09-23T07:34:03Z</dcterms:modified>
</cp:coreProperties>
</file>