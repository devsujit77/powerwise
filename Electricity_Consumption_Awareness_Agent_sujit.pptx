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9"/>
  </p:notesMasterIdLst>
  <p:sldIdLst>
    <p:sldId id="257" r:id="rId2"/>
    <p:sldId id="282" r:id="rId3"/>
    <p:sldId id="285" r:id="rId4"/>
    <p:sldId id="278" r:id="rId5"/>
    <p:sldId id="281" r:id="rId6"/>
    <p:sldId id="279" r:id="rId7"/>
    <p:sldId id="290" r:id="rId8"/>
    <p:sldId id="291" r:id="rId9"/>
    <p:sldId id="292" r:id="rId10"/>
    <p:sldId id="262" r:id="rId11"/>
    <p:sldId id="264" r:id="rId12"/>
    <p:sldId id="286" r:id="rId13"/>
    <p:sldId id="287" r:id="rId14"/>
    <p:sldId id="280" r:id="rId15"/>
    <p:sldId id="288" r:id="rId16"/>
    <p:sldId id="289" r:id="rId17"/>
    <p:sldId id="276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37A25B-DA5D-A37C-3B36-7F0977405ABF}" v="154" dt="2026-06-19T05:59:42.731"/>
    <p1510:client id="{088AD18C-7811-B1E2-9ED5-57A1A5542DF6}" v="456" dt="2026-06-19T06:28:44.546"/>
    <p1510:client id="{A6B9108B-7598-1D50-C4AA-8A38026DAEEF}" v="18" dt="2026-06-19T06:56:18.840"/>
    <p1510:client id="{CF376E3E-16AD-B220-DB03-D7511C5FAE25}" v="445" dt="2026-06-19T10:18:38.869"/>
    <p1510:client id="{E27D249D-B118-0810-7731-E1B1C378D9D3}" v="5" dt="2026-06-19T09:10:10.538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68AA45C4-2AC1-8517-1BC6-B4D76161A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CA1C5246-838D-B804-A56B-BC9B52B15F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D030678B-9A26-414A-24D2-5EADEA30F9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673914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FD84428-22E9-69BE-1247-DAC9A4F92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B494818E-35DC-30D6-D810-BD81142A85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DFC07E38-1A67-9960-37C7-6BAD9D76F0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603208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FD84428-22E9-69BE-1247-DAC9A4F92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B494818E-35DC-30D6-D810-BD81142A85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DFC07E38-1A67-9960-37C7-6BAD9D76F0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603208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evsujit77/powerwise.git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3034428707"/>
              </p:ext>
            </p:extLst>
          </p:nvPr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Student Name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68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Recent Passport Photo</a:t>
                      </a: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68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Email ID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68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Mobile number [WhatsApp]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687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rgbClr val="182B3A"/>
                        </a:solidFill>
                        <a:latin typeface="Arial"/>
                      </a:endParaRPr>
                    </a:p>
                    <a:p>
                      <a:endParaRPr lang="en-IN" sz="1400" b="0" dirty="0">
                        <a:solidFill>
                          <a:srgbClr val="182B3A"/>
                        </a:solidFill>
                        <a:latin typeface="Arial"/>
                      </a:endParaRPr>
                    </a:p>
                    <a:p>
                      <a:pPr algn="ctr"/>
                      <a:r>
                        <a:rPr sz="1400" b="0" dirty="0">
                          <a:solidFill>
                            <a:srgbClr val="182B3A"/>
                          </a:solidFill>
                          <a:latin typeface="Arial"/>
                        </a:rPr>
                        <a:t>Sujit Vishnu Patil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rgbClr val="182B3A"/>
                        </a:solidFill>
                        <a:latin typeface="Arial"/>
                      </a:endParaRPr>
                    </a:p>
                    <a:p>
                      <a:endParaRPr lang="en-IN" sz="1400" b="0" dirty="0">
                        <a:solidFill>
                          <a:srgbClr val="182B3A"/>
                        </a:solidFill>
                        <a:latin typeface="Arial"/>
                      </a:endParaRPr>
                    </a:p>
                    <a:p>
                      <a:pPr algn="ctr"/>
                      <a:r>
                        <a:rPr sz="1400" b="0" dirty="0">
                          <a:solidFill>
                            <a:srgbClr val="182B3A"/>
                          </a:solidFill>
                          <a:latin typeface="Arial"/>
                        </a:rPr>
                        <a:t>sujitpatil373750@gmail.com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rgbClr val="182B3A"/>
                        </a:solidFill>
                        <a:latin typeface="Arial"/>
                      </a:endParaRPr>
                    </a:p>
                    <a:p>
                      <a:endParaRPr lang="en-IN" sz="1400" b="0" dirty="0">
                        <a:solidFill>
                          <a:srgbClr val="182B3A"/>
                        </a:solidFill>
                        <a:latin typeface="Arial"/>
                      </a:endParaRPr>
                    </a:p>
                    <a:p>
                      <a:pPr algn="ctr"/>
                      <a:r>
                        <a:rPr sz="1400" b="0" dirty="0">
                          <a:solidFill>
                            <a:srgbClr val="182B3A"/>
                          </a:solidFill>
                          <a:latin typeface="Arial"/>
                        </a:rPr>
                        <a:t>7020462425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sz="1800" b="1">
                <a:solidFill>
                  <a:srgbClr val="087443"/>
                </a:solidFill>
                <a:latin typeface="Arial"/>
              </a:rPr>
              <a:t>Domain of Project – Energy / Sustainability / AI</a:t>
            </a:r>
            <a:endParaRPr lang="en-IN" sz="2400" b="1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sz="1800" b="1">
                <a:solidFill>
                  <a:srgbClr val="087443"/>
                </a:solidFill>
                <a:latin typeface="Arial"/>
              </a:rPr>
              <a:t>Project Title – Electricity Consumption Awareness Agent</a:t>
            </a:r>
            <a:endParaRPr lang="en-IN" sz="2400" b="1">
              <a:highlight>
                <a:srgbClr val="FFFF00"/>
              </a:highlight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F052D13-723C-5349-33C2-1BB705A7FF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3573" y="3549446"/>
            <a:ext cx="1533833" cy="121799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7" name="TextBox 96"/>
          <p:cNvSpPr txBox="1"/>
          <p:nvPr/>
        </p:nvSpPr>
        <p:spPr>
          <a:xfrm>
            <a:off x="9966960" y="6473952"/>
            <a:ext cx="13258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0">
                <a:solidFill>
                  <a:srgbClr val="607386"/>
                </a:solidFill>
                <a:latin typeface="Arial"/>
              </a:rPr>
              <a:t>PowerWise •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859585"/>
            <a:ext cx="10607040" cy="406265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fontAlgn="base"/>
            <a:endParaRPr lang="en-US" sz="1800" b="0" dirty="0">
              <a:solidFill>
                <a:srgbClr val="182B3A"/>
              </a:solidFill>
              <a:latin typeface="Arial"/>
            </a:endParaRPr>
          </a:p>
          <a:p>
            <a:pPr fontAlgn="base"/>
            <a:r>
              <a:rPr sz="1800" b="0" dirty="0">
                <a:solidFill>
                  <a:srgbClr val="182B3A"/>
                </a:solidFill>
                <a:latin typeface="Arial"/>
              </a:rPr>
              <a:t>Problem Statement: AI Agent for Electricity Consumption Awareness</a:t>
            </a:r>
            <a:br>
              <a:rPr dirty="0"/>
            </a:br>
            <a:br>
              <a:rPr dirty="0"/>
            </a:br>
            <a:r>
              <a:rPr sz="1800" b="0" dirty="0">
                <a:solidFill>
                  <a:srgbClr val="182B3A"/>
                </a:solidFill>
                <a:latin typeface="Arial"/>
              </a:rPr>
              <a:t>The Challenge</a:t>
            </a:r>
            <a:br>
              <a:rPr dirty="0"/>
            </a:br>
            <a:r>
              <a:rPr sz="1800" b="0" dirty="0">
                <a:solidFill>
                  <a:srgbClr val="182B3A"/>
                </a:solidFill>
                <a:latin typeface="Arial"/>
              </a:rPr>
              <a:t>Many consumers lack awareness of how daily activities and appliance usage affect electricity consumption. This can lead to inefficient usage and unnecessary energy wastage.</a:t>
            </a:r>
            <a:br>
              <a:rPr dirty="0"/>
            </a:br>
            <a:br>
              <a:rPr dirty="0"/>
            </a:br>
            <a:r>
              <a:rPr sz="1800" b="0" dirty="0">
                <a:solidFill>
                  <a:srgbClr val="182B3A"/>
                </a:solidFill>
                <a:latin typeface="Arial"/>
              </a:rPr>
              <a:t>The challenge is to build an AI agent that educates users about electricity consumption patterns and promotes energy-efficient behavior.</a:t>
            </a:r>
            <a:br>
              <a:rPr dirty="0"/>
            </a:br>
            <a:br>
              <a:rPr dirty="0"/>
            </a:br>
            <a:r>
              <a:rPr sz="1800" b="0" dirty="0">
                <a:solidFill>
                  <a:srgbClr val="182B3A"/>
                </a:solidFill>
                <a:latin typeface="Arial"/>
              </a:rPr>
              <a:t>Objectives</a:t>
            </a:r>
            <a:br>
              <a:rPr dirty="0"/>
            </a:br>
            <a:r>
              <a:rPr sz="1800" b="0" dirty="0">
                <a:solidFill>
                  <a:srgbClr val="182B3A"/>
                </a:solidFill>
                <a:latin typeface="Arial"/>
              </a:rPr>
              <a:t>1. Analyze household electricity usage and identify unusually high consumption.</a:t>
            </a:r>
            <a:br>
              <a:rPr dirty="0"/>
            </a:br>
            <a:r>
              <a:rPr sz="1800" b="0" dirty="0">
                <a:solidFill>
                  <a:srgbClr val="182B3A"/>
                </a:solidFill>
                <a:latin typeface="Arial"/>
              </a:rPr>
              <a:t>2. Explain consumption patterns in simple language.</a:t>
            </a:r>
            <a:br>
              <a:rPr dirty="0"/>
            </a:br>
            <a:r>
              <a:rPr sz="1800" b="0" dirty="0">
                <a:solidFill>
                  <a:srgbClr val="182B3A"/>
                </a:solidFill>
                <a:latin typeface="Arial"/>
              </a:rPr>
              <a:t>3. Provide practical energy-saving suggestions.</a:t>
            </a:r>
            <a:br>
              <a:rPr dirty="0"/>
            </a:br>
            <a:r>
              <a:rPr sz="1800" b="0" dirty="0">
                <a:solidFill>
                  <a:srgbClr val="182B3A"/>
                </a:solidFill>
                <a:latin typeface="Arial"/>
              </a:rPr>
              <a:t>4. Support conversational questions and personalized insights.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0"/>
            <a:ext cx="7214616" cy="9541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en-US" sz="2800" b="1" dirty="0">
              <a:solidFill>
                <a:srgbClr val="071B2B"/>
              </a:solidFill>
              <a:latin typeface="Arial"/>
            </a:endParaRPr>
          </a:p>
          <a:p>
            <a:r>
              <a:rPr sz="2800" b="1" dirty="0">
                <a:solidFill>
                  <a:srgbClr val="071B2B"/>
                </a:solidFill>
                <a:latin typeface="Arial"/>
              </a:rPr>
              <a:t>Problem Statement</a:t>
            </a:r>
            <a:endParaRPr lang="en-IN" sz="28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9966960" y="6473952"/>
            <a:ext cx="13258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0">
                <a:solidFill>
                  <a:srgbClr val="607386"/>
                </a:solidFill>
                <a:latin typeface="Arial"/>
              </a:rPr>
              <a:t>PowerWise • 3</a:t>
            </a:r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2" y="1234440"/>
            <a:ext cx="10607040" cy="52629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fontAlgn="base"/>
            <a:r>
              <a:rPr sz="1700" b="0">
                <a:solidFill>
                  <a:srgbClr val="182B3A"/>
                </a:solidFill>
                <a:latin typeface="Arial"/>
              </a:rPr>
              <a:t>Proposed Solution: PowerWise AI Agent</a:t>
            </a:r>
            <a:br/>
            <a:br/>
            <a:r>
              <a:rPr sz="1700" b="0">
                <a:solidFill>
                  <a:srgbClr val="182B3A"/>
                </a:solidFill>
                <a:latin typeface="Arial"/>
              </a:rPr>
              <a:t>PowerWise is an AI-powered electricity awareness assistant built to analyze household consumption, explain usage patterns, detect high-consumption areas, and recommend practical energy-saving actions.</a:t>
            </a:r>
            <a:br/>
            <a:br/>
            <a:r>
              <a:rPr sz="1700" b="0">
                <a:solidFill>
                  <a:srgbClr val="182B3A"/>
                </a:solidFill>
                <a:latin typeface="Arial"/>
              </a:rPr>
              <a:t>The solution combines IBM watsonx Orchestrate with IBM Granite models. Users interact through a conversational interface and can provide electricity or appliance usage data. The agent interprets the data, identifies trends or anomalies, and produces understandable recommendations.</a:t>
            </a:r>
            <a:br/>
            <a:br/>
            <a:r>
              <a:rPr sz="1700" b="0">
                <a:solidFill>
                  <a:srgbClr val="182B3A"/>
                </a:solidFill>
                <a:latin typeface="Arial"/>
              </a:rPr>
              <a:t>Core capabilities</a:t>
            </a:r>
            <a:br/>
            <a:r>
              <a:rPr sz="1700" b="0">
                <a:solidFill>
                  <a:srgbClr val="182B3A"/>
                </a:solidFill>
                <a:latin typeface="Arial"/>
              </a:rPr>
              <a:t>• Consumption analysis and trend detection</a:t>
            </a:r>
            <a:br/>
            <a:r>
              <a:rPr sz="1700" b="0">
                <a:solidFill>
                  <a:srgbClr val="182B3A"/>
                </a:solidFill>
                <a:latin typeface="Arial"/>
              </a:rPr>
              <a:t>• Appliance-level usage analysis</a:t>
            </a:r>
            <a:br/>
            <a:r>
              <a:rPr sz="1700" b="0">
                <a:solidFill>
                  <a:srgbClr val="182B3A"/>
                </a:solidFill>
                <a:latin typeface="Arial"/>
              </a:rPr>
              <a:t>• Electricity bill and kWh awareness</a:t>
            </a:r>
            <a:br/>
            <a:r>
              <a:rPr sz="1700" b="0">
                <a:solidFill>
                  <a:srgbClr val="182B3A"/>
                </a:solidFill>
                <a:latin typeface="Arial"/>
              </a:rPr>
              <a:t>• Personalized energy-saving recommendations</a:t>
            </a:r>
            <a:br/>
            <a:r>
              <a:rPr sz="1700" b="0">
                <a:solidFill>
                  <a:srgbClr val="182B3A"/>
                </a:solidFill>
                <a:latin typeface="Arial"/>
              </a:rPr>
              <a:t>• Conversational assistance</a:t>
            </a:r>
            <a:endParaRPr lang="en-US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sz="2800" b="1">
                <a:solidFill>
                  <a:srgbClr val="071B2B"/>
                </a:solidFill>
                <a:latin typeface="Arial"/>
              </a:rPr>
              <a:t>Proposed Solution</a:t>
            </a:r>
            <a:endParaRPr lang="en-IN" sz="2400" b="1"/>
          </a:p>
        </p:txBody>
      </p:sp>
      <p:sp>
        <p:nvSpPr>
          <p:cNvPr id="4" name="TextBox 3"/>
          <p:cNvSpPr txBox="1"/>
          <p:nvPr/>
        </p:nvSpPr>
        <p:spPr>
          <a:xfrm>
            <a:off x="9966960" y="6473952"/>
            <a:ext cx="13258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0">
                <a:solidFill>
                  <a:srgbClr val="607386"/>
                </a:solidFill>
                <a:latin typeface="Arial"/>
              </a:rPr>
              <a:t>PowerWise • 4</a:t>
            </a:r>
          </a:p>
        </p:txBody>
      </p:sp>
    </p:spTree>
    <p:extLst>
      <p:ext uri="{BB962C8B-B14F-4D97-AF65-F5344CB8AC3E}">
        <p14:creationId xmlns:p14="http://schemas.microsoft.com/office/powerpoint/2010/main" val="22902949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sz="2800" b="1">
                <a:solidFill>
                  <a:srgbClr val="071B2B"/>
                </a:solidFill>
                <a:latin typeface="Arial"/>
              </a:rPr>
              <a:t>Technology Used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515600" cy="55092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sz="1700" b="0">
                <a:solidFill>
                  <a:srgbClr val="182B3A"/>
                </a:solidFill>
                <a:latin typeface="Arial"/>
              </a:rPr>
              <a:t>• IBM watsonx Orchestrate – Agent building, behavior, guidelines, knowledge, tools, testing and deployment</a:t>
            </a:r>
            <a:br/>
            <a:r>
              <a:rPr sz="1700" b="0">
                <a:solidFill>
                  <a:srgbClr val="182B3A"/>
                </a:solidFill>
                <a:latin typeface="Arial"/>
              </a:rPr>
              <a:t>• IBM Granite Models – Natural-language understanding, reasoning, summarization and recommendations</a:t>
            </a:r>
            <a:br/>
            <a:r>
              <a:rPr sz="1700" b="0">
                <a:solidFill>
                  <a:srgbClr val="182B3A"/>
                </a:solidFill>
                <a:latin typeface="Arial"/>
              </a:rPr>
              <a:t>• IBM Cloud – Cloud infrastructure for the AI solution</a:t>
            </a:r>
            <a:br/>
            <a:r>
              <a:rPr sz="1700" b="0">
                <a:solidFill>
                  <a:srgbClr val="182B3A"/>
                </a:solidFill>
                <a:latin typeface="Arial"/>
              </a:rPr>
              <a:t>• Knowledge / RAG – Ground the agent in trusted electricity and energy-efficiency information</a:t>
            </a:r>
            <a:br/>
            <a:r>
              <a:rPr sz="1700" b="0">
                <a:solidFill>
                  <a:srgbClr val="182B3A"/>
                </a:solidFill>
                <a:latin typeface="Arial"/>
              </a:rPr>
              <a:t>• Speech-to-Text / Text-to-Speech – Optional voice interaction through supported providers</a:t>
            </a:r>
            <a:br/>
            <a:r>
              <a:rPr sz="1700" b="0">
                <a:solidFill>
                  <a:srgbClr val="182B3A"/>
                </a:solidFill>
                <a:latin typeface="Arial"/>
              </a:rPr>
              <a:t>• HTML, CSS &amp; JavaScript – PowerWise dashboard and conversational web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6473952"/>
            <a:ext cx="13258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0">
                <a:solidFill>
                  <a:srgbClr val="607386"/>
                </a:solidFill>
                <a:latin typeface="Arial"/>
              </a:rPr>
              <a:t>PowerWise • 5</a:t>
            </a:r>
          </a:p>
        </p:txBody>
      </p:sp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8"/>
            <a:ext cx="8154126" cy="127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rgbClr val="051D3A"/>
              </a:buClr>
              <a:buSzPts val="3500"/>
            </a:pPr>
            <a:r>
              <a:rPr sz="2700" b="1" dirty="0">
                <a:solidFill>
                  <a:srgbClr val="071B2B"/>
                </a:solidFill>
                <a:latin typeface="Arial"/>
              </a:rPr>
              <a:t>IBM </a:t>
            </a:r>
            <a:r>
              <a:rPr sz="2700" b="1" dirty="0" err="1">
                <a:solidFill>
                  <a:srgbClr val="071B2B"/>
                </a:solidFill>
                <a:latin typeface="Arial"/>
              </a:rPr>
              <a:t>watsonx</a:t>
            </a:r>
            <a:r>
              <a:rPr sz="2700" b="1" dirty="0">
                <a:solidFill>
                  <a:srgbClr val="071B2B"/>
                </a:solidFill>
                <a:latin typeface="Arial"/>
              </a:rPr>
              <a:t> Orchestrate Components</a:t>
            </a:r>
            <a:endParaRPr sz="2400" b="1" dirty="0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486866" y="1285130"/>
            <a:ext cx="8799871" cy="193899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sz="1500" b="0" dirty="0">
                <a:solidFill>
                  <a:srgbClr val="182B3A"/>
                </a:solidFill>
                <a:latin typeface="Arial"/>
              </a:rPr>
              <a:t>1) Chat Input – User enters electricity questions, consumption data, appliance details or bill information.</a:t>
            </a:r>
            <a:br>
              <a:rPr dirty="0"/>
            </a:br>
            <a:r>
              <a:rPr sz="1500" b="0" dirty="0">
                <a:solidFill>
                  <a:srgbClr val="182B3A"/>
                </a:solidFill>
                <a:latin typeface="Arial"/>
              </a:rPr>
              <a:t>2) IBM </a:t>
            </a:r>
            <a:r>
              <a:rPr sz="1500" b="0" dirty="0" err="1">
                <a:solidFill>
                  <a:srgbClr val="182B3A"/>
                </a:solidFill>
                <a:latin typeface="Arial"/>
              </a:rPr>
              <a:t>watsonx</a:t>
            </a:r>
            <a:r>
              <a:rPr sz="1500" b="0" dirty="0">
                <a:solidFill>
                  <a:srgbClr val="182B3A"/>
                </a:solidFill>
                <a:latin typeface="Arial"/>
              </a:rPr>
              <a:t> AI Agent – Interprets the request and coordinates the response.</a:t>
            </a:r>
            <a:br>
              <a:rPr dirty="0"/>
            </a:br>
            <a:r>
              <a:rPr sz="1500" b="0" dirty="0">
                <a:solidFill>
                  <a:srgbClr val="182B3A"/>
                </a:solidFill>
                <a:latin typeface="Arial"/>
              </a:rPr>
              <a:t>3) IBM Granite Model – Provides reasoning, summarization and natural-language generation.</a:t>
            </a:r>
            <a:br>
              <a:rPr dirty="0"/>
            </a:br>
            <a:r>
              <a:rPr sz="1500" b="0" dirty="0">
                <a:solidFill>
                  <a:srgbClr val="182B3A"/>
                </a:solidFill>
                <a:latin typeface="Arial"/>
              </a:rPr>
              <a:t>4) Guidelines – Define behavior for analysis, anomaly detection, recommendations and missing data.</a:t>
            </a:r>
            <a:br>
              <a:rPr dirty="0"/>
            </a:br>
            <a:r>
              <a:rPr sz="1500" b="0" dirty="0">
                <a:solidFill>
                  <a:srgbClr val="182B3A"/>
                </a:solidFill>
                <a:latin typeface="Arial"/>
              </a:rPr>
              <a:t>5) Knowledge – Provides grounded electricity-awareness and energy-efficiency information.</a:t>
            </a:r>
            <a:br>
              <a:rPr dirty="0"/>
            </a:br>
            <a:r>
              <a:rPr sz="1500" b="0" dirty="0">
                <a:solidFill>
                  <a:srgbClr val="182B3A"/>
                </a:solidFill>
                <a:latin typeface="Arial"/>
              </a:rPr>
              <a:t>6) Tools – Can support calculations, data processing and future integrations.</a:t>
            </a:r>
            <a:br>
              <a:rPr dirty="0"/>
            </a:br>
            <a:r>
              <a:rPr sz="1500" b="0" dirty="0">
                <a:solidFill>
                  <a:srgbClr val="182B3A"/>
                </a:solidFill>
                <a:latin typeface="Arial"/>
              </a:rPr>
              <a:t>7) Chat Output – Returns clear insights, explanations and energy-saving recommendations.</a:t>
            </a:r>
            <a:endParaRPr lang="en-US" dirty="0"/>
          </a:p>
        </p:txBody>
      </p:sp>
      <p:sp>
        <p:nvSpPr>
          <p:cNvPr id="163" name="TextBox 162"/>
          <p:cNvSpPr txBox="1"/>
          <p:nvPr/>
        </p:nvSpPr>
        <p:spPr>
          <a:xfrm>
            <a:off x="9966960" y="6473952"/>
            <a:ext cx="13258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0">
                <a:solidFill>
                  <a:srgbClr val="607386"/>
                </a:solidFill>
                <a:latin typeface="Arial"/>
              </a:rPr>
              <a:t>PowerWise • 6</a:t>
            </a:r>
          </a:p>
        </p:txBody>
      </p:sp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rgbClr val="051D3A"/>
              </a:buClr>
              <a:buSzPts val="3500"/>
            </a:pPr>
            <a:r>
              <a:rPr sz="2700" b="1">
                <a:solidFill>
                  <a:srgbClr val="071B2B"/>
                </a:solidFill>
                <a:latin typeface="Arial"/>
              </a:rPr>
              <a:t>Agent Instructions – PowerWise</a:t>
            </a:r>
            <a:endParaRPr sz="2400" b="1">
              <a:sym typeface="Times New Roman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966960" y="6473952"/>
            <a:ext cx="13258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0">
                <a:solidFill>
                  <a:srgbClr val="607386"/>
                </a:solidFill>
                <a:latin typeface="Arial"/>
              </a:rPr>
              <a:t>PowerWise • 7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11110B-2501-DC77-CBE5-573F008B9A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128" y="943897"/>
            <a:ext cx="11415253" cy="5257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D458060A-E278-BD66-87FB-2E75164BF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4B8BE564-07ED-5E4D-A85D-C78B8A391EE9}"/>
              </a:ext>
            </a:extLst>
          </p:cNvPr>
          <p:cNvSpPr/>
          <p:nvPr/>
        </p:nvSpPr>
        <p:spPr>
          <a:xfrm>
            <a:off x="537590" y="381112"/>
            <a:ext cx="7616194" cy="390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rgbClr val="051D3A"/>
              </a:buClr>
              <a:buSzPts val="3500"/>
            </a:pPr>
            <a:r>
              <a:rPr sz="2700" b="1" dirty="0">
                <a:solidFill>
                  <a:srgbClr val="071B2B"/>
                </a:solidFill>
                <a:latin typeface="Arial"/>
              </a:rPr>
              <a:t> Electricity Awareness</a:t>
            </a:r>
            <a:endParaRPr sz="2400" b="1" dirty="0">
              <a:sym typeface="Times New Roman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966960" y="6473952"/>
            <a:ext cx="13258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0">
                <a:solidFill>
                  <a:srgbClr val="607386"/>
                </a:solidFill>
                <a:latin typeface="Arial"/>
              </a:rPr>
              <a:t>PowerWise • 8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1C03D8-55F7-5603-7A35-27A8A034C1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078" y="1317523"/>
            <a:ext cx="10199843" cy="4817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BC1F377F-D2E8-46B5-C7F3-C58589F45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189D03E3-C782-BAA0-25CD-AC8F93A156A1}"/>
              </a:ext>
            </a:extLst>
          </p:cNvPr>
          <p:cNvSpPr/>
          <p:nvPr/>
        </p:nvSpPr>
        <p:spPr>
          <a:xfrm>
            <a:off x="537590" y="381112"/>
            <a:ext cx="7616194" cy="390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sz="2700" b="1" dirty="0">
                <a:solidFill>
                  <a:srgbClr val="071B2B"/>
                </a:solidFill>
                <a:latin typeface="Arial"/>
              </a:rPr>
              <a:t> Output – </a:t>
            </a:r>
            <a:r>
              <a:rPr sz="2700" b="1" dirty="0" err="1">
                <a:solidFill>
                  <a:srgbClr val="071B2B"/>
                </a:solidFill>
                <a:latin typeface="Arial"/>
              </a:rPr>
              <a:t>PowerWise</a:t>
            </a:r>
            <a:r>
              <a:rPr lang="en-US" sz="2700" b="1" dirty="0">
                <a:solidFill>
                  <a:srgbClr val="071B2B"/>
                </a:solidFill>
                <a:latin typeface="Arial"/>
              </a:rPr>
              <a:t> AI Chatbot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9966960" y="6473952"/>
            <a:ext cx="13258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0">
                <a:solidFill>
                  <a:srgbClr val="607386"/>
                </a:solidFill>
                <a:latin typeface="Arial"/>
              </a:rPr>
              <a:t>PowerWise • 9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925392B-C3B9-445D-F46F-39AB19A57C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020899"/>
            <a:ext cx="10579510" cy="4986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073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BC1F377F-D2E8-46B5-C7F3-C58589F45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189D03E3-C782-BAA0-25CD-AC8F93A156A1}"/>
              </a:ext>
            </a:extLst>
          </p:cNvPr>
          <p:cNvSpPr/>
          <p:nvPr/>
        </p:nvSpPr>
        <p:spPr>
          <a:xfrm>
            <a:off x="537590" y="381112"/>
            <a:ext cx="7616194" cy="390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sz="2700" b="1">
                <a:solidFill>
                  <a:srgbClr val="071B2B"/>
                </a:solidFill>
                <a:latin typeface="Arial"/>
              </a:rPr>
              <a:t>Other Applicable Test Cases</a:t>
            </a:r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489204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300" b="0">
                <a:solidFill>
                  <a:srgbClr val="182B3A"/>
                </a:solidFill>
                <a:latin typeface="Arial"/>
              </a:rPr>
              <a:t>Highest Consumer</a:t>
            </a:r>
            <a:br/>
            <a:br/>
            <a:r>
              <a:rPr sz="1300" b="0">
                <a:solidFill>
                  <a:srgbClr val="182B3A"/>
                </a:solidFill>
                <a:latin typeface="Arial"/>
              </a:rPr>
              <a:t>Prompt: Which appliance consumes the most electricity?</a:t>
            </a:r>
            <a:br/>
            <a:r>
              <a:rPr sz="1300" b="0">
                <a:solidFill>
                  <a:srgbClr val="182B3A"/>
                </a:solidFill>
                <a:latin typeface="Arial"/>
              </a:rPr>
              <a:t>Expected behavior: Identify the highest contributor and explain its percentage / kWh impact.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0" y="1325880"/>
            <a:ext cx="489204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300" b="0">
                <a:solidFill>
                  <a:srgbClr val="182B3A"/>
                </a:solidFill>
                <a:latin typeface="Arial"/>
              </a:rPr>
              <a:t>Saving Tips</a:t>
            </a:r>
            <a:br/>
            <a:br/>
            <a:r>
              <a:rPr sz="1300" b="0">
                <a:solidFill>
                  <a:srgbClr val="182B3A"/>
                </a:solidFill>
                <a:latin typeface="Arial"/>
              </a:rPr>
              <a:t>Prompt: How can I reduce my electricity bill?</a:t>
            </a:r>
            <a:br/>
            <a:r>
              <a:rPr sz="1300" b="0">
                <a:solidFill>
                  <a:srgbClr val="182B3A"/>
                </a:solidFill>
                <a:latin typeface="Arial"/>
              </a:rPr>
              <a:t>Expected behavior: Prioritize practical actions based on the biggest consumption contributors.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474720"/>
            <a:ext cx="489204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300" b="0">
                <a:solidFill>
                  <a:srgbClr val="182B3A"/>
                </a:solidFill>
                <a:latin typeface="Arial"/>
              </a:rPr>
              <a:t>Explain kWh</a:t>
            </a:r>
            <a:br/>
            <a:br/>
            <a:r>
              <a:rPr sz="1300" b="0">
                <a:solidFill>
                  <a:srgbClr val="182B3A"/>
                </a:solidFill>
                <a:latin typeface="Arial"/>
              </a:rPr>
              <a:t>Prompt: What is 1 unit of electricity?</a:t>
            </a:r>
            <a:br/>
            <a:r>
              <a:rPr sz="1300" b="0">
                <a:solidFill>
                  <a:srgbClr val="182B3A"/>
                </a:solidFill>
                <a:latin typeface="Arial"/>
              </a:rPr>
              <a:t>Expected behavior: Explain that 1 unit corresponds to 1 kWh using a simple appliance example.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3474720"/>
            <a:ext cx="489204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300" b="0">
                <a:solidFill>
                  <a:srgbClr val="182B3A"/>
                </a:solidFill>
                <a:latin typeface="Arial"/>
              </a:rPr>
              <a:t>Missing Data</a:t>
            </a:r>
            <a:br/>
            <a:br/>
            <a:r>
              <a:rPr sz="1300" b="0">
                <a:solidFill>
                  <a:srgbClr val="182B3A"/>
                </a:solidFill>
                <a:latin typeface="Arial"/>
              </a:rPr>
              <a:t>Prompt: Can you estimate my bill?</a:t>
            </a:r>
            <a:br/>
            <a:r>
              <a:rPr sz="1300" b="0">
                <a:solidFill>
                  <a:srgbClr val="182B3A"/>
                </a:solidFill>
                <a:latin typeface="Arial"/>
              </a:rPr>
              <a:t>Expected behavior: Ask for required consumption and tariff information rather than inventing values.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3258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0">
                <a:solidFill>
                  <a:srgbClr val="607386"/>
                </a:solidFill>
                <a:latin typeface="Arial"/>
              </a:rPr>
              <a:t>PowerWise • 10</a:t>
            </a:r>
          </a:p>
        </p:txBody>
      </p:sp>
    </p:spTree>
    <p:extLst>
      <p:ext uri="{BB962C8B-B14F-4D97-AF65-F5344CB8AC3E}">
        <p14:creationId xmlns:p14="http://schemas.microsoft.com/office/powerpoint/2010/main" val="33421565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sz="2700" b="1">
                <a:solidFill>
                  <a:srgbClr val="071B2B"/>
                </a:solidFill>
                <a:latin typeface="Arial"/>
              </a:rPr>
              <a:t>PowerWise – Orchestrate Architecture Blueprint</a:t>
            </a:r>
            <a:endParaRPr lang="en-US" sz="2400">
              <a:solidFill>
                <a:schemeClr val="dk1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238175" y="1241958"/>
            <a:ext cx="11054665" cy="561604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1828800" cy="123444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268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0">
                <a:solidFill>
                  <a:srgbClr val="182B3A"/>
                </a:solidFill>
                <a:latin typeface="Arial"/>
              </a:rPr>
              <a:t>User / Web Dashboard</a:t>
            </a:r>
            <a:br/>
            <a:r>
              <a:rPr sz="1200" b="0">
                <a:solidFill>
                  <a:srgbClr val="182B3A"/>
                </a:solidFill>
                <a:latin typeface="Arial"/>
              </a:rPr>
              <a:t>Questions • Usage data</a:t>
            </a:r>
            <a:br/>
            <a:r>
              <a:rPr sz="1200" b="0">
                <a:solidFill>
                  <a:srgbClr val="182B3A"/>
                </a:solidFill>
                <a:latin typeface="Arial"/>
              </a:rPr>
              <a:t>Bill / appliance details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828800"/>
            <a:ext cx="1828800" cy="1234440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19A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0">
                <a:solidFill>
                  <a:srgbClr val="182B3A"/>
                </a:solidFill>
                <a:latin typeface="Arial"/>
              </a:rPr>
              <a:t>IBM watsonx</a:t>
            </a:r>
            <a:br/>
            <a:r>
              <a:rPr sz="1200" b="0">
                <a:solidFill>
                  <a:srgbClr val="182B3A"/>
                </a:solidFill>
                <a:latin typeface="Arial"/>
              </a:rPr>
              <a:t>Orchestrate</a:t>
            </a:r>
            <a:br/>
            <a:r>
              <a:rPr sz="1200" b="0">
                <a:solidFill>
                  <a:srgbClr val="182B3A"/>
                </a:solidFill>
                <a:latin typeface="Arial"/>
              </a:rPr>
              <a:t>Agent behavior</a:t>
            </a:r>
            <a:br/>
            <a:r>
              <a:rPr sz="1200" b="0">
                <a:solidFill>
                  <a:srgbClr val="182B3A"/>
                </a:solidFill>
                <a:latin typeface="Arial"/>
              </a:rPr>
              <a:t>Guidelines • Tools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828800"/>
            <a:ext cx="1828800" cy="1234440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19A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0">
                <a:solidFill>
                  <a:srgbClr val="182B3A"/>
                </a:solidFill>
                <a:latin typeface="Arial"/>
              </a:rPr>
              <a:t>IBM Granite</a:t>
            </a:r>
            <a:br/>
            <a:r>
              <a:rPr sz="1200" b="0">
                <a:solidFill>
                  <a:srgbClr val="182B3A"/>
                </a:solidFill>
                <a:latin typeface="Arial"/>
              </a:rPr>
              <a:t>Model</a:t>
            </a:r>
            <a:br/>
            <a:r>
              <a:rPr sz="1200" b="0">
                <a:solidFill>
                  <a:srgbClr val="182B3A"/>
                </a:solidFill>
                <a:latin typeface="Arial"/>
              </a:rPr>
              <a:t>Reasoning</a:t>
            </a:r>
            <a:br/>
            <a:r>
              <a:rPr sz="1200" b="0">
                <a:solidFill>
                  <a:srgbClr val="182B3A"/>
                </a:solidFill>
                <a:latin typeface="Arial"/>
              </a:rPr>
              <a:t>Summarization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828800"/>
            <a:ext cx="1828800" cy="1234440"/>
          </a:xfrm>
          <a:prstGeom prst="roundRect">
            <a:avLst/>
          </a:prstGeom>
          <a:solidFill>
            <a:srgbClr val="F5F7FF"/>
          </a:solidFill>
          <a:ln w="12700">
            <a:solidFill>
              <a:srgbClr val="736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0">
                <a:solidFill>
                  <a:srgbClr val="182B3A"/>
                </a:solidFill>
                <a:latin typeface="Arial"/>
              </a:rPr>
              <a:t>Knowledge / RAG</a:t>
            </a:r>
            <a:br/>
            <a:r>
              <a:rPr sz="1200" b="0">
                <a:solidFill>
                  <a:srgbClr val="182B3A"/>
                </a:solidFill>
                <a:latin typeface="Arial"/>
              </a:rPr>
              <a:t>Electricity facts</a:t>
            </a:r>
            <a:br/>
            <a:r>
              <a:rPr sz="1200" b="0">
                <a:solidFill>
                  <a:srgbClr val="182B3A"/>
                </a:solidFill>
                <a:latin typeface="Arial"/>
              </a:rPr>
              <a:t>Energy-efficiency content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4206240"/>
            <a:ext cx="1828800" cy="1234440"/>
          </a:xfrm>
          <a:prstGeom prst="roundRect">
            <a:avLst/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0">
                <a:solidFill>
                  <a:srgbClr val="182B3A"/>
                </a:solidFill>
                <a:latin typeface="Arial"/>
              </a:rPr>
              <a:t>Analysis Layer</a:t>
            </a:r>
            <a:br/>
            <a:r>
              <a:rPr sz="1200" b="0">
                <a:solidFill>
                  <a:srgbClr val="182B3A"/>
                </a:solidFill>
                <a:latin typeface="Arial"/>
              </a:rPr>
              <a:t>kWh calculations</a:t>
            </a:r>
            <a:br/>
            <a:r>
              <a:rPr sz="1200" b="0">
                <a:solidFill>
                  <a:srgbClr val="182B3A"/>
                </a:solidFill>
                <a:latin typeface="Arial"/>
              </a:rPr>
              <a:t>Trend / anomaly detection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4206240"/>
            <a:ext cx="1828800" cy="1234440"/>
          </a:xfrm>
          <a:prstGeom prst="roundRect">
            <a:avLst/>
          </a:prstGeom>
          <a:solidFill>
            <a:srgbClr val="EEF9F4"/>
          </a:solidFill>
          <a:ln w="12700">
            <a:solidFill>
              <a:srgbClr val="19A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0">
                <a:solidFill>
                  <a:srgbClr val="182B3A"/>
                </a:solidFill>
                <a:latin typeface="Arial"/>
              </a:rPr>
              <a:t>AI Output</a:t>
            </a:r>
            <a:br/>
            <a:r>
              <a:rPr sz="1200" b="0">
                <a:solidFill>
                  <a:srgbClr val="182B3A"/>
                </a:solidFill>
                <a:latin typeface="Arial"/>
              </a:rPr>
              <a:t>Insights</a:t>
            </a:r>
            <a:br/>
            <a:r>
              <a:rPr sz="1200" b="0">
                <a:solidFill>
                  <a:srgbClr val="182B3A"/>
                </a:solidFill>
                <a:latin typeface="Arial"/>
              </a:rPr>
              <a:t>Saving recommendations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633472" y="2331720"/>
            <a:ext cx="338328" cy="201168"/>
          </a:xfrm>
          <a:prstGeom prst="rightArrow">
            <a:avLst/>
          </a:prstGeom>
          <a:solidFill>
            <a:srgbClr val="268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ight Arrow 11"/>
          <p:cNvSpPr/>
          <p:nvPr/>
        </p:nvSpPr>
        <p:spPr>
          <a:xfrm>
            <a:off x="4553712" y="2331720"/>
            <a:ext cx="429767" cy="201168"/>
          </a:xfrm>
          <a:prstGeom prst="rightArrow">
            <a:avLst/>
          </a:prstGeom>
          <a:solidFill>
            <a:srgbClr val="268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ight Arrow 12"/>
          <p:cNvSpPr/>
          <p:nvPr/>
        </p:nvSpPr>
        <p:spPr>
          <a:xfrm>
            <a:off x="6565392" y="2331720"/>
            <a:ext cx="521208" cy="201168"/>
          </a:xfrm>
          <a:prstGeom prst="rightArrow">
            <a:avLst/>
          </a:prstGeom>
          <a:solidFill>
            <a:srgbClr val="268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ight Arrow 13"/>
          <p:cNvSpPr/>
          <p:nvPr/>
        </p:nvSpPr>
        <p:spPr>
          <a:xfrm>
            <a:off x="5623560" y="3063240"/>
            <a:ext cx="320040" cy="201168"/>
          </a:xfrm>
          <a:prstGeom prst="rightArrow">
            <a:avLst/>
          </a:prstGeom>
          <a:solidFill>
            <a:srgbClr val="268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ight Arrow 14"/>
          <p:cNvSpPr/>
          <p:nvPr/>
        </p:nvSpPr>
        <p:spPr>
          <a:xfrm>
            <a:off x="6858000" y="3063240"/>
            <a:ext cx="1097279" cy="201168"/>
          </a:xfrm>
          <a:prstGeom prst="rightArrow">
            <a:avLst/>
          </a:prstGeom>
          <a:solidFill>
            <a:srgbClr val="268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ight Arrow 15"/>
          <p:cNvSpPr/>
          <p:nvPr/>
        </p:nvSpPr>
        <p:spPr>
          <a:xfrm>
            <a:off x="4572000" y="4800600"/>
            <a:ext cx="2514600" cy="201168"/>
          </a:xfrm>
          <a:prstGeom prst="rightArrow">
            <a:avLst/>
          </a:prstGeom>
          <a:solidFill>
            <a:srgbClr val="268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966960" y="6473952"/>
            <a:ext cx="13258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0">
                <a:solidFill>
                  <a:srgbClr val="607386"/>
                </a:solidFill>
                <a:latin typeface="Arial"/>
              </a:rPr>
              <a:t>PowerWise •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sz="2800" b="1">
                <a:solidFill>
                  <a:srgbClr val="071B2B"/>
                </a:solidFill>
                <a:latin typeface="Arial"/>
              </a:rPr>
              <a:t>Role of Agentic AI in the Solution</a:t>
            </a:r>
            <a:endParaRPr lang="en-IN" sz="32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621792" y="1167493"/>
            <a:ext cx="7406640" cy="31085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sz="1600" b="0">
                <a:solidFill>
                  <a:srgbClr val="182B3A"/>
                </a:solidFill>
                <a:latin typeface="Arial"/>
              </a:rPr>
              <a:t>Role of Agentic AI in Electricity Consumption Awareness Agent</a:t>
            </a:r>
            <a:br/>
            <a:br/>
            <a:r>
              <a:rPr sz="1600" b="0">
                <a:solidFill>
                  <a:srgbClr val="182B3A"/>
                </a:solidFill>
                <a:latin typeface="Arial"/>
              </a:rPr>
              <a:t>Agentic AI enables PowerWise to act as an intelligent, goal-driven assistant rather than a simple question-answering chatbot. The agent interprets user intent, uses available electricity data and knowledge, applies configured guidelines, and produces a useful response.</a:t>
            </a:r>
            <a:br/>
            <a:br/>
            <a:r>
              <a:rPr sz="1600" b="0">
                <a:solidFill>
                  <a:srgbClr val="182B3A"/>
                </a:solidFill>
                <a:latin typeface="Arial"/>
              </a:rPr>
              <a:t>Key roles</a:t>
            </a:r>
            <a:br/>
            <a:r>
              <a:rPr sz="1600" b="0">
                <a:solidFill>
                  <a:srgbClr val="182B3A"/>
                </a:solidFill>
                <a:latin typeface="Arial"/>
              </a:rPr>
              <a:t>• Context awareness – understands the user's current electricity question and available data.</a:t>
            </a:r>
            <a:br/>
            <a:r>
              <a:rPr sz="1600" b="0">
                <a:solidFill>
                  <a:srgbClr val="182B3A"/>
                </a:solidFill>
                <a:latin typeface="Arial"/>
              </a:rPr>
              <a:t>• Analysis – identifies consumption patterns, spikes and high-use areas.</a:t>
            </a:r>
            <a:br/>
            <a:r>
              <a:rPr sz="1600" b="0">
                <a:solidFill>
                  <a:srgbClr val="182B3A"/>
                </a:solidFill>
                <a:latin typeface="Arial"/>
              </a:rPr>
              <a:t>• Reasoning – connects consumption information with practical energy-saving actions.</a:t>
            </a:r>
            <a:br/>
            <a:r>
              <a:rPr sz="1600" b="0">
                <a:solidFill>
                  <a:srgbClr val="182B3A"/>
                </a:solidFill>
                <a:latin typeface="Arial"/>
              </a:rPr>
              <a:t>• Personalization – recommendations can reflect the user's appliances and usage pattern.</a:t>
            </a:r>
            <a:br/>
            <a:r>
              <a:rPr sz="1600" b="0">
                <a:solidFill>
                  <a:srgbClr val="182B3A"/>
                </a:solidFill>
                <a:latin typeface="Arial"/>
              </a:rPr>
              <a:t>• Tool and knowledge use – can combine calculations with grounded information.</a:t>
            </a:r>
            <a:br/>
            <a:r>
              <a:rPr sz="1600" b="0">
                <a:solidFill>
                  <a:srgbClr val="182B3A"/>
                </a:solidFill>
                <a:latin typeface="Arial"/>
              </a:rPr>
              <a:t>• Conversational interaction – supports follow-up questions and explanations.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9966960" y="6473952"/>
            <a:ext cx="13258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0">
                <a:solidFill>
                  <a:srgbClr val="607386"/>
                </a:solidFill>
                <a:latin typeface="Arial"/>
              </a:rPr>
              <a:t>PowerWise •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sz="2800" b="1">
                <a:solidFill>
                  <a:srgbClr val="071B2B"/>
                </a:solidFill>
                <a:latin typeface="Arial"/>
              </a:rPr>
              <a:t>Novelty and Uniqueness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777240" y="1207008"/>
            <a:ext cx="11301984" cy="529375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sz="1600" b="0">
                <a:solidFill>
                  <a:srgbClr val="182B3A"/>
                </a:solidFill>
                <a:latin typeface="Arial"/>
              </a:rPr>
              <a:t>PowerWise combines agentic AI, electricity-data analysis, knowledge grounding, and personalized energy-awareness guidance in one conversational system.</a:t>
            </a:r>
            <a:br/>
            <a:br/>
            <a:r>
              <a:rPr sz="1600" b="0">
                <a:solidFill>
                  <a:srgbClr val="182B3A"/>
                </a:solidFill>
                <a:latin typeface="Arial"/>
              </a:rPr>
              <a:t>1. Consumption-aware intelligence – focuses on actual household usage patterns rather than generic advice.</a:t>
            </a:r>
            <a:br/>
            <a:r>
              <a:rPr sz="1600" b="0">
                <a:solidFill>
                  <a:srgbClr val="182B3A"/>
                </a:solidFill>
                <a:latin typeface="Arial"/>
              </a:rPr>
              <a:t>2. Explainable insights – converts raw consumption into simple, understandable observations.</a:t>
            </a:r>
            <a:br/>
            <a:r>
              <a:rPr sz="1600" b="0">
                <a:solidFill>
                  <a:srgbClr val="182B3A"/>
                </a:solidFill>
                <a:latin typeface="Arial"/>
              </a:rPr>
              <a:t>3. Appliance prioritization – identifies major contributors so users can focus on the biggest opportunities.</a:t>
            </a:r>
            <a:br/>
            <a:r>
              <a:rPr sz="1600" b="0">
                <a:solidFill>
                  <a:srgbClr val="182B3A"/>
                </a:solidFill>
                <a:latin typeface="Arial"/>
              </a:rPr>
              <a:t>4. Personalized recommendations – suggestions can reflect the user's consumption profile.</a:t>
            </a:r>
            <a:br/>
            <a:r>
              <a:rPr sz="1600" b="0">
                <a:solidFill>
                  <a:srgbClr val="182B3A"/>
                </a:solidFill>
                <a:latin typeface="Arial"/>
              </a:rPr>
              <a:t>5. Grounded responses – knowledge sources can support trustworthy electricity and energy-efficiency explanations.</a:t>
            </a:r>
            <a:br/>
            <a:r>
              <a:rPr sz="1600" b="0">
                <a:solidFill>
                  <a:srgbClr val="182B3A"/>
                </a:solidFill>
                <a:latin typeface="Arial"/>
              </a:rPr>
              <a:t>6. Conversational experience – users can ask follow-up questions naturally.</a:t>
            </a:r>
            <a:br/>
            <a:r>
              <a:rPr sz="1600" b="0">
                <a:solidFill>
                  <a:srgbClr val="182B3A"/>
                </a:solidFill>
                <a:latin typeface="Arial"/>
              </a:rPr>
              <a:t>7. Extensible architecture – voice, smart-meter data and additional tools can be added later.</a:t>
            </a:r>
            <a:br/>
            <a:br/>
            <a:r>
              <a:rPr sz="1600" b="0">
                <a:solidFill>
                  <a:srgbClr val="182B3A"/>
                </a:solidFill>
                <a:latin typeface="Arial"/>
              </a:rPr>
              <a:t>This makes PowerWise more than a static energy-tip application: it is designed as an interactive AI agent for electricity awareness.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6473952"/>
            <a:ext cx="13258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0">
                <a:solidFill>
                  <a:srgbClr val="607386"/>
                </a:solidFill>
                <a:latin typeface="Arial"/>
              </a:rPr>
              <a:t>PowerWise • 13</a:t>
            </a:r>
          </a:p>
        </p:txBody>
      </p:sp>
    </p:spTree>
    <p:extLst>
      <p:ext uri="{BB962C8B-B14F-4D97-AF65-F5344CB8AC3E}">
        <p14:creationId xmlns:p14="http://schemas.microsoft.com/office/powerpoint/2010/main" val="9179641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sz="2800" b="1">
                <a:solidFill>
                  <a:srgbClr val="071B2B"/>
                </a:solidFill>
                <a:latin typeface="Arial"/>
              </a:rPr>
              <a:t>GitHub Repository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sz="1600" b="0" dirty="0">
                <a:solidFill>
                  <a:srgbClr val="182B3A"/>
                </a:solidFill>
                <a:latin typeface="Arial"/>
              </a:rPr>
              <a:t>Create a public GitHub repository for the project and paste the working repository URL here.</a:t>
            </a:r>
            <a:br>
              <a:rPr dirty="0"/>
            </a:br>
            <a:br>
              <a:rPr dirty="0"/>
            </a:br>
            <a:r>
              <a:rPr sz="1600" b="0" dirty="0">
                <a:solidFill>
                  <a:srgbClr val="182B3A"/>
                </a:solidFill>
                <a:latin typeface="Arial"/>
              </a:rPr>
              <a:t>Recommended repository contents:</a:t>
            </a:r>
            <a:br>
              <a:rPr dirty="0"/>
            </a:br>
            <a:r>
              <a:rPr sz="1600" b="0" dirty="0">
                <a:solidFill>
                  <a:srgbClr val="182B3A"/>
                </a:solidFill>
                <a:latin typeface="Arial"/>
              </a:rPr>
              <a:t>1. index.html – </a:t>
            </a:r>
            <a:r>
              <a:rPr sz="1600" b="0" dirty="0" err="1">
                <a:solidFill>
                  <a:srgbClr val="182B3A"/>
                </a:solidFill>
                <a:latin typeface="Arial"/>
              </a:rPr>
              <a:t>PowerWise</a:t>
            </a:r>
            <a:r>
              <a:rPr sz="1600" b="0" dirty="0">
                <a:solidFill>
                  <a:srgbClr val="182B3A"/>
                </a:solidFill>
                <a:latin typeface="Arial"/>
              </a:rPr>
              <a:t> dashboard prototype</a:t>
            </a:r>
            <a:br>
              <a:rPr dirty="0"/>
            </a:br>
            <a:r>
              <a:rPr sz="1600" b="0" dirty="0">
                <a:solidFill>
                  <a:srgbClr val="182B3A"/>
                </a:solidFill>
                <a:latin typeface="Arial"/>
              </a:rPr>
              <a:t>2. </a:t>
            </a:r>
            <a:r>
              <a:rPr sz="1600" b="0" dirty="0" err="1">
                <a:solidFill>
                  <a:srgbClr val="182B3A"/>
                </a:solidFill>
                <a:latin typeface="Arial"/>
              </a:rPr>
              <a:t>app.json</a:t>
            </a:r>
            <a:r>
              <a:rPr sz="1600" b="0" dirty="0">
                <a:solidFill>
                  <a:srgbClr val="182B3A"/>
                </a:solidFill>
                <a:latin typeface="Arial"/>
              </a:rPr>
              <a:t> – IBM project/application configuration, if used</a:t>
            </a:r>
            <a:br>
              <a:rPr dirty="0"/>
            </a:br>
            <a:r>
              <a:rPr sz="1600" b="0" dirty="0">
                <a:solidFill>
                  <a:srgbClr val="182B3A"/>
                </a:solidFill>
                <a:latin typeface="Arial"/>
              </a:rPr>
              <a:t>3. Problem statement / project documentation PDF</a:t>
            </a:r>
            <a:br>
              <a:rPr dirty="0"/>
            </a:br>
            <a:r>
              <a:rPr sz="1600" b="0" dirty="0">
                <a:solidFill>
                  <a:srgbClr val="182B3A"/>
                </a:solidFill>
                <a:latin typeface="Arial"/>
              </a:rPr>
              <a:t>4. Electricity_Consumption_Awareness_Agent.pptx</a:t>
            </a:r>
            <a:br>
              <a:rPr dirty="0"/>
            </a:br>
            <a:r>
              <a:rPr sz="1600" b="0" dirty="0">
                <a:solidFill>
                  <a:srgbClr val="182B3A"/>
                </a:solidFill>
                <a:latin typeface="Arial"/>
              </a:rPr>
              <a:t>5. Screenshots of IBM </a:t>
            </a:r>
            <a:r>
              <a:rPr sz="1600" b="0" dirty="0" err="1">
                <a:solidFill>
                  <a:srgbClr val="182B3A"/>
                </a:solidFill>
                <a:latin typeface="Arial"/>
              </a:rPr>
              <a:t>watsonx</a:t>
            </a:r>
            <a:r>
              <a:rPr sz="1600" b="0" dirty="0">
                <a:solidFill>
                  <a:srgbClr val="182B3A"/>
                </a:solidFill>
                <a:latin typeface="Arial"/>
              </a:rPr>
              <a:t> Orchestrate configuration and test outputs</a:t>
            </a:r>
            <a:br>
              <a:rPr dirty="0"/>
            </a:br>
            <a:r>
              <a:rPr sz="1600" b="0" dirty="0">
                <a:solidFill>
                  <a:srgbClr val="182B3A"/>
                </a:solidFill>
                <a:latin typeface="Arial"/>
              </a:rPr>
              <a:t>6. README.md with setup, architecture, features and demo instructions</a:t>
            </a:r>
            <a:br>
              <a:rPr dirty="0"/>
            </a:br>
            <a:br>
              <a:rPr dirty="0"/>
            </a:br>
            <a:r>
              <a:rPr sz="1600" b="0" dirty="0">
                <a:solidFill>
                  <a:srgbClr val="182B3A"/>
                </a:solidFill>
                <a:latin typeface="Arial"/>
              </a:rPr>
              <a:t>GitHub URL: </a:t>
            </a:r>
            <a:r>
              <a:rPr lang="en-IN" sz="1600" dirty="0">
                <a:solidFill>
                  <a:srgbClr val="182B3A"/>
                </a:solidFill>
                <a:hlinkClick r:id="rId3"/>
              </a:rPr>
              <a:t>https://github.com/devsujit77/powerwise.git</a:t>
            </a:r>
            <a:r>
              <a:rPr lang="en-IN" sz="1600" dirty="0">
                <a:solidFill>
                  <a:srgbClr val="182B3A"/>
                </a:solidFill>
              </a:rPr>
              <a:t> </a:t>
            </a:r>
            <a:endParaRPr sz="1600" b="0" dirty="0">
              <a:solidFill>
                <a:srgbClr val="182B3A"/>
              </a:solidFill>
              <a:latin typeface="Arial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228982D-BF81-530A-CBA1-E897A3CA8EF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7BC356B8-92F8-3187-D065-667AACF68E72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3" name="TextBox 282"/>
          <p:cNvSpPr txBox="1"/>
          <p:nvPr/>
        </p:nvSpPr>
        <p:spPr>
          <a:xfrm>
            <a:off x="9966960" y="6473952"/>
            <a:ext cx="13258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0">
                <a:solidFill>
                  <a:srgbClr val="607386"/>
                </a:solidFill>
                <a:latin typeface="Arial"/>
              </a:rPr>
              <a:t>PowerWise • 14</a:t>
            </a:r>
          </a:p>
        </p:txBody>
      </p:sp>
    </p:spTree>
    <p:extLst>
      <p:ext uri="{BB962C8B-B14F-4D97-AF65-F5344CB8AC3E}">
        <p14:creationId xmlns:p14="http://schemas.microsoft.com/office/powerpoint/2010/main" val="26058519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sz="2800" b="1">
                <a:solidFill>
                  <a:srgbClr val="071B2B"/>
                </a:solidFill>
                <a:latin typeface="Arial"/>
              </a:rPr>
              <a:t>Future Scope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218724" y="1221715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sz="1500" b="0" dirty="0">
                <a:solidFill>
                  <a:srgbClr val="182B3A"/>
                </a:solidFill>
                <a:latin typeface="Arial"/>
              </a:rPr>
              <a:t>1. Smart Meter Integration – Connect real-time or periodic meter data for automatic consumption monitoring.</a:t>
            </a:r>
            <a:br>
              <a:rPr dirty="0"/>
            </a:br>
            <a:r>
              <a:rPr sz="1500" b="0" dirty="0">
                <a:solidFill>
                  <a:srgbClr val="182B3A"/>
                </a:solidFill>
                <a:latin typeface="Arial"/>
              </a:rPr>
              <a:t>2. Appliance-Level Monitoring – Use smart plugs or IoT sensors to measure appliance-specific consumption.</a:t>
            </a:r>
            <a:br>
              <a:rPr dirty="0"/>
            </a:br>
            <a:r>
              <a:rPr sz="1500" b="0" dirty="0">
                <a:solidFill>
                  <a:srgbClr val="182B3A"/>
                </a:solidFill>
                <a:latin typeface="Arial"/>
              </a:rPr>
              <a:t>3. AI-Powered Voice Assistant – Extend the agent with Speech-to-Text and Text-to-Speech for hands-free interaction.</a:t>
            </a:r>
            <a:br>
              <a:rPr dirty="0"/>
            </a:br>
            <a:r>
              <a:rPr sz="1500" b="0" dirty="0">
                <a:solidFill>
                  <a:srgbClr val="182B3A"/>
                </a:solidFill>
                <a:latin typeface="Arial"/>
              </a:rPr>
              <a:t>4. Multilingual Support – Provide electricity-awareness guidance in English, Hindi, Marathi and other regional languages.</a:t>
            </a:r>
            <a:br>
              <a:rPr dirty="0"/>
            </a:br>
            <a:r>
              <a:rPr sz="1500" b="0" dirty="0">
                <a:solidFill>
                  <a:srgbClr val="182B3A"/>
                </a:solidFill>
                <a:latin typeface="Arial"/>
              </a:rPr>
              <a:t>5. Personalized Energy Goals – Let users set monthly consumption and bill-reduction targets and track progress.</a:t>
            </a:r>
            <a:br>
              <a:rPr dirty="0"/>
            </a:br>
            <a:r>
              <a:rPr sz="1500" b="0" dirty="0">
                <a:solidFill>
                  <a:srgbClr val="182B3A"/>
                </a:solidFill>
                <a:latin typeface="Arial"/>
              </a:rPr>
              <a:t>6. Advanced Analytics – Add forecasting, anomaly detection and time-of-use analysis.</a:t>
            </a:r>
            <a:br>
              <a:rPr dirty="0"/>
            </a:br>
            <a:r>
              <a:rPr sz="1500" b="0" dirty="0">
                <a:solidFill>
                  <a:srgbClr val="182B3A"/>
                </a:solidFill>
                <a:latin typeface="Arial"/>
              </a:rPr>
              <a:t>7. Utility / Grid Integration – Future integration with utility data could support richer bill and consumption insights.</a:t>
            </a: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3" name="TextBox 282"/>
          <p:cNvSpPr txBox="1"/>
          <p:nvPr/>
        </p:nvSpPr>
        <p:spPr>
          <a:xfrm>
            <a:off x="9966960" y="6473952"/>
            <a:ext cx="13258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0">
                <a:solidFill>
                  <a:srgbClr val="607386"/>
                </a:solidFill>
                <a:latin typeface="Arial"/>
              </a:rPr>
              <a:t>PowerWise • 15</a:t>
            </a: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sz="2800" b="1">
                <a:solidFill>
                  <a:srgbClr val="071B2B"/>
                </a:solidFill>
                <a:latin typeface="Arial"/>
              </a:rPr>
              <a:t>Certificates Earned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37D5EE-379B-FDC5-0854-8AC81D31FADF}"/>
              </a:ext>
            </a:extLst>
          </p:cNvPr>
          <p:cNvSpPr txBox="1"/>
          <p:nvPr/>
        </p:nvSpPr>
        <p:spPr>
          <a:xfrm>
            <a:off x="552048" y="690061"/>
            <a:ext cx="638996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sz="1800" b="1">
                <a:solidFill>
                  <a:srgbClr val="182B3A"/>
                </a:solidFill>
                <a:latin typeface="Arial"/>
              </a:rPr>
              <a:t>IBM SkillsBuild / Credly Certificate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473952"/>
            <a:ext cx="13258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0">
                <a:solidFill>
                  <a:srgbClr val="607386"/>
                </a:solidFill>
                <a:latin typeface="Arial"/>
              </a:rPr>
              <a:t>PowerWise • 16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9075594-F574-1594-1A24-F4BC5464A2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8913" y="1052052"/>
            <a:ext cx="8474174" cy="562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0476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sz="2800" b="1">
                <a:solidFill>
                  <a:srgbClr val="071B2B"/>
                </a:solidFill>
                <a:latin typeface="Arial"/>
              </a:rPr>
              <a:t>Certificates Earned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D36B1A-26C2-CD55-1032-4CB5E4EDF305}"/>
              </a:ext>
            </a:extLst>
          </p:cNvPr>
          <p:cNvSpPr txBox="1"/>
          <p:nvPr/>
        </p:nvSpPr>
        <p:spPr>
          <a:xfrm>
            <a:off x="496843" y="800470"/>
            <a:ext cx="543768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sz="1800" b="1">
                <a:solidFill>
                  <a:srgbClr val="182B3A"/>
                </a:solidFill>
                <a:latin typeface="Arial"/>
              </a:rPr>
              <a:t>IBM BOB Certificate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473952"/>
            <a:ext cx="13258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0">
                <a:solidFill>
                  <a:srgbClr val="607386"/>
                </a:solidFill>
                <a:latin typeface="Arial"/>
              </a:rPr>
              <a:t>PowerWise • 17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3049F4-F002-61BF-2719-4E693854B3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499" y="1200580"/>
            <a:ext cx="8779001" cy="5387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6107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1265</Words>
  <Application>Microsoft Office PowerPoint</Application>
  <PresentationFormat>Widescreen</PresentationFormat>
  <Paragraphs>73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Aniket</cp:lastModifiedBy>
  <cp:revision>107</cp:revision>
  <dcterms:created xsi:type="dcterms:W3CDTF">2025-07-08T05:06:56Z</dcterms:created>
  <dcterms:modified xsi:type="dcterms:W3CDTF">2026-09-24T13:50:44Z</dcterms:modified>
</cp:coreProperties>
</file>